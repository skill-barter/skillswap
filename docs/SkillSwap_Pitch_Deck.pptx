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15 seconds: 'Every student on this campus already knows something valuable -- SkillSwap turns that into a structured, verified skill exchange, no money involved.' Introduce team name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Land on the third point -- 'no structured match' -- that's the gap SkillSwap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'It sounds simple because it is -- the depth is in how the matching and trust layers work, which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This is the technical centerpiece -- emphasize 'explainable' and 'deterministic': no model to defend, every point is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30-40 seconds. This slide answers 'how do you know it's actually students, and actually them' before a judge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fast, then actually switch to the live app / recorded demo for ~90 seconds following exactly this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30-40 seconds. If a judge asks 'why SQLite', the answer is: zero native deps, zero setup friction, perfect for a hackathon-scale app -- and the schema is small enough to migrate to Postgres later without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seconds. Signals engineering maturity beyond 'it works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Close this slide with the real-world framing: this isn't just a hackathon toy, it's a free structure for something every campus already does informally.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seconds. Name every teammate and their role out loud even though the slide only shows placeholders -- fill in real names before presenting. Judges are explicitly scoring collaboration, so say one concrete sentence about how the team divided the work (e.g. who owned matching vs. auth vs. the demo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8778240" y="-1188720"/>
            <a:ext cx="4754880" cy="4754880"/>
          </a:xfrm>
          <a:prstGeom prst="ellipse">
            <a:avLst/>
          </a:prstGeom>
          <a:solidFill>
            <a:srgbClr val="028090">
              <a:alpha val="60000"/>
            </a:srgbClr>
          </a:solidFill>
          <a:ln/>
        </p:spPr>
      </p:sp>
      <p:sp>
        <p:nvSpPr>
          <p:cNvPr id="3" name="Shape 1"/>
          <p:cNvSpPr/>
          <p:nvPr/>
        </p:nvSpPr>
        <p:spPr>
          <a:xfrm>
            <a:off x="10332720" y="3291840"/>
            <a:ext cx="2743200" cy="2743200"/>
          </a:xfrm>
          <a:prstGeom prst="ellipse">
            <a:avLst/>
          </a:prstGeom>
          <a:solidFill>
            <a:srgbClr val="00A896">
              <a:alpha val="45000"/>
            </a:srgbClr>
          </a:solidFill>
          <a:ln/>
        </p:spPr>
      </p:sp>
      <p:sp>
        <p:nvSpPr>
          <p:cNvPr id="4" name="Shape 2"/>
          <p:cNvSpPr/>
          <p:nvPr/>
        </p:nvSpPr>
        <p:spPr>
          <a:xfrm>
            <a:off x="9646920" y="960120"/>
            <a:ext cx="1920240" cy="1920240"/>
          </a:xfrm>
          <a:prstGeom prst="ellipse">
            <a:avLst/>
          </a:prstGeom>
          <a:solidFill>
            <a:srgbClr val="00A896"/>
          </a:solidFill>
          <a:ln/>
        </p:spPr>
      </p:sp>
      <p:pic>
        <p:nvPicPr>
          <p:cNvPr id="5" name="Image 0" descr="/home/claude/pptx_build/icons/swap-white.png">    </p:cNvPr>
          <p:cNvPicPr>
            <a:picLocks noChangeAspect="1"/>
          </p:cNvPicPr>
          <p:nvPr/>
        </p:nvPicPr>
        <p:blipFill>
          <a:blip r:embed="rId1"/>
          <a:stretch>
            <a:fillRect/>
          </a:stretch>
        </p:blipFill>
        <p:spPr>
          <a:xfrm>
            <a:off x="10126980" y="1440180"/>
            <a:ext cx="960120" cy="960120"/>
          </a:xfrm>
          <a:prstGeom prst="rect">
            <a:avLst/>
          </a:prstGeom>
        </p:spPr>
      </p:pic>
      <p:sp>
        <p:nvSpPr>
          <p:cNvPr id="6" name="Text 3"/>
          <p:cNvSpPr/>
          <p:nvPr/>
        </p:nvSpPr>
        <p:spPr>
          <a:xfrm>
            <a:off x="640080" y="1417320"/>
            <a:ext cx="7315200" cy="32004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SKILL-SWAP HACKATHON</a:t>
            </a:r>
            <a:endParaRPr lang="en-US" sz="1300" dirty="0"/>
          </a:p>
        </p:txBody>
      </p:sp>
      <p:sp>
        <p:nvSpPr>
          <p:cNvPr id="7" name="Text 4"/>
          <p:cNvSpPr txBox="1"/>
          <p:nvPr/>
        </p:nvSpPr>
        <p:spPr>
          <a:xfrm>
            <a:off x="594360" y="1828800"/>
            <a:ext cx="86868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SkillSwap</a:t>
            </a:r>
            <a:endParaRPr lang="en-US" sz="6000" dirty="0"/>
          </a:p>
        </p:txBody>
      </p:sp>
      <p:sp>
        <p:nvSpPr>
          <p:cNvPr id="8" name="Text 5"/>
          <p:cNvSpPr txBox="1"/>
          <p:nvPr/>
        </p:nvSpPr>
        <p:spPr>
          <a:xfrm>
            <a:off x="640080" y="3063240"/>
            <a:ext cx="7772400" cy="548640"/>
          </a:xfrm>
          <a:prstGeom prst="rect">
            <a:avLst/>
          </a:prstGeom>
          <a:noFill/>
          <a:ln/>
        </p:spPr>
        <p:txBody>
          <a:bodyPr wrap="square" lIns="0" tIns="0" rIns="0" bIns="0" rtlCol="0" anchor="ctr"/>
          <a:lstStyle/>
          <a:p>
            <a:pPr indent="0" marL="0">
              <a:buNone/>
            </a:pPr>
            <a:r>
              <a:rPr lang="en-US" sz="2400" i="1" dirty="0">
                <a:solidFill>
                  <a:srgbClr val="00A896"/>
                </a:solidFill>
                <a:latin typeface="Cambria" pitchFamily="34" charset="0"/>
                <a:ea typeface="Cambria" pitchFamily="34" charset="-122"/>
                <a:cs typeface="Cambria" pitchFamily="34" charset="-120"/>
              </a:rPr>
              <a:t>Trade skills, not money.</a:t>
            </a:r>
            <a:endParaRPr lang="en-US" sz="2400" dirty="0"/>
          </a:p>
        </p:txBody>
      </p:sp>
      <p:sp>
        <p:nvSpPr>
          <p:cNvPr id="9" name="Text 6"/>
          <p:cNvSpPr txBox="1"/>
          <p:nvPr/>
        </p:nvSpPr>
        <p:spPr>
          <a:xfrm>
            <a:off x="640080" y="3657600"/>
            <a:ext cx="7863840" cy="822960"/>
          </a:xfrm>
          <a:prstGeom prst="rect">
            <a:avLst/>
          </a:prstGeom>
          <a:noFill/>
          <a:ln/>
        </p:spPr>
        <p:txBody>
          <a:bodyPr wrap="square" lIns="0" tIns="0" rIns="0" bIns="0" rtlCol="0" anchor="ctr"/>
          <a:lstStyle/>
          <a:p>
            <a:pPr indent="0" marL="0">
              <a:lnSpc>
                <a:spcPct val="125000"/>
              </a:lnSpc>
              <a:buNone/>
            </a:pPr>
            <a:r>
              <a:rPr lang="en-US" sz="1500" dirty="0">
                <a:solidFill>
                  <a:srgbClr val="CFE8E8"/>
                </a:solidFill>
                <a:latin typeface="Calibri" pitchFamily="34" charset="0"/>
                <a:ea typeface="Calibri" pitchFamily="34" charset="-122"/>
                <a:cs typeface="Calibri" pitchFamily="34" charset="-120"/>
              </a:rPr>
              <a:t>A campus skill-exchange platform where students list what they can teach, get matched</a:t>
            </a:r>
            <a:endParaRPr lang="en-US" sz="1500" dirty="0"/>
          </a:p>
          <a:p>
            <a:pPr indent="0" marL="0">
              <a:lnSpc>
                <a:spcPct val="125000"/>
              </a:lnSpc>
              <a:buNone/>
            </a:pPr>
            <a:r>
              <a:rPr lang="en-US" sz="1500" dirty="0">
                <a:solidFill>
                  <a:srgbClr val="CFE8E8"/>
                </a:solidFill>
                <a:latin typeface="Calibri" pitchFamily="34" charset="0"/>
                <a:ea typeface="Calibri" pitchFamily="34" charset="-122"/>
                <a:cs typeface="Calibri" pitchFamily="34" charset="-120"/>
              </a:rPr>
              <a:t>with classmates who want it, and swap sessions using credits instead of cash.</a:t>
            </a:r>
            <a:endParaRPr lang="en-US" sz="1500" dirty="0"/>
          </a:p>
        </p:txBody>
      </p:sp>
      <p:sp>
        <p:nvSpPr>
          <p:cNvPr id="10" name="Text 7"/>
          <p:cNvSpPr/>
          <p:nvPr/>
        </p:nvSpPr>
        <p:spPr>
          <a:xfrm>
            <a:off x="640080" y="6080760"/>
            <a:ext cx="54864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Ninjas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Tutoring costs money. Skills sit idle.</a:t>
            </a:r>
            <a:endParaRPr lang="en-US" sz="3200" dirty="0"/>
          </a:p>
        </p:txBody>
      </p:sp>
      <p:sp>
        <p:nvSpPr>
          <p:cNvPr id="4" name="Text 2"/>
          <p:cNvSpPr txBox="1"/>
          <p:nvPr/>
        </p:nvSpPr>
        <p:spPr>
          <a:xfrm>
            <a:off x="457200" y="1417320"/>
            <a:ext cx="10972800" cy="502920"/>
          </a:xfrm>
          <a:prstGeom prst="rect">
            <a:avLst/>
          </a:prstGeom>
          <a:noFill/>
          <a:ln/>
        </p:spPr>
        <p:txBody>
          <a:bodyPr wrap="square" lIns="0" tIns="0" rIns="0" bIns="0" rtlCol="0" anchor="ctr"/>
          <a:lstStyle/>
          <a:p>
            <a:pPr indent="0" marL="0">
              <a:buNone/>
            </a:pPr>
            <a:r>
              <a:rPr lang="en-US" sz="1500" dirty="0">
                <a:solidFill>
                  <a:srgbClr val="5B7B7E"/>
                </a:solidFill>
                <a:latin typeface="Calibri" pitchFamily="34" charset="0"/>
                <a:ea typeface="Calibri" pitchFamily="34" charset="-122"/>
                <a:cs typeface="Calibri" pitchFamily="34" charset="-120"/>
              </a:rPr>
              <a:t>Study groups are random, tutors are expensive, and most students already have something valuable to trade -- just no structured way to do it.</a:t>
            </a:r>
            <a:endParaRPr lang="en-US" sz="1500" dirty="0"/>
          </a:p>
        </p:txBody>
      </p:sp>
      <p:sp>
        <p:nvSpPr>
          <p:cNvPr id="5" name="Shape 3"/>
          <p:cNvSpPr/>
          <p:nvPr/>
        </p:nvSpPr>
        <p:spPr>
          <a:xfrm>
            <a:off x="457200" y="2331720"/>
            <a:ext cx="3520440" cy="3383280"/>
          </a:xfrm>
          <a:prstGeom prst="roundRect">
            <a:avLst>
              <a:gd name="adj" fmla="val 3243"/>
            </a:avLst>
          </a:prstGeom>
          <a:solidFill>
            <a:srgbClr val="EEF6F6"/>
          </a:solidFill>
          <a:ln/>
        </p:spPr>
      </p:sp>
      <p:sp>
        <p:nvSpPr>
          <p:cNvPr id="6" name="Shape 4"/>
          <p:cNvSpPr/>
          <p:nvPr/>
        </p:nvSpPr>
        <p:spPr>
          <a:xfrm>
            <a:off x="1714500" y="2697480"/>
            <a:ext cx="1005840" cy="1005840"/>
          </a:xfrm>
          <a:prstGeom prst="ellipse">
            <a:avLst/>
          </a:prstGeom>
          <a:solidFill>
            <a:srgbClr val="028090"/>
          </a:solidFill>
          <a:ln/>
        </p:spPr>
      </p:sp>
      <p:pic>
        <p:nvPicPr>
          <p:cNvPr id="7" name="Image 0" descr="/home/claude/pptx_build/icons/dollar-white.png">    </p:cNvPr>
          <p:cNvPicPr>
            <a:picLocks noChangeAspect="1"/>
          </p:cNvPicPr>
          <p:nvPr/>
        </p:nvPicPr>
        <p:blipFill>
          <a:blip r:embed="rId1"/>
          <a:stretch>
            <a:fillRect/>
          </a:stretch>
        </p:blipFill>
        <p:spPr>
          <a:xfrm>
            <a:off x="1965960" y="2948940"/>
            <a:ext cx="502920" cy="502920"/>
          </a:xfrm>
          <a:prstGeom prst="rect">
            <a:avLst/>
          </a:prstGeom>
        </p:spPr>
      </p:pic>
      <p:sp>
        <p:nvSpPr>
          <p:cNvPr id="8" name="Text 5"/>
          <p:cNvSpPr txBox="1"/>
          <p:nvPr/>
        </p:nvSpPr>
        <p:spPr>
          <a:xfrm>
            <a:off x="731520" y="3931920"/>
            <a:ext cx="2971800" cy="548640"/>
          </a:xfrm>
          <a:prstGeom prst="rect">
            <a:avLst/>
          </a:prstGeom>
          <a:noFill/>
          <a:ln/>
        </p:spPr>
        <p:txBody>
          <a:bodyPr wrap="square" lIns="0" tIns="0" rIns="0" bIns="0" rtlCol="0" anchor="ctr"/>
          <a:lstStyle/>
          <a:p>
            <a:pPr algn="ctr" indent="0" marL="0">
              <a:buNone/>
            </a:pPr>
            <a:r>
              <a:rPr lang="en-US" sz="1700" b="1" dirty="0">
                <a:solidFill>
                  <a:srgbClr val="0B2B2E"/>
                </a:solidFill>
                <a:latin typeface="Cambria" pitchFamily="34" charset="0"/>
                <a:ea typeface="Cambria" pitchFamily="34" charset="-122"/>
                <a:cs typeface="Cambria" pitchFamily="34" charset="-120"/>
              </a:rPr>
              <a:t>Tutoring costs money</a:t>
            </a:r>
            <a:endParaRPr lang="en-US" sz="1700" dirty="0"/>
          </a:p>
        </p:txBody>
      </p:sp>
      <p:sp>
        <p:nvSpPr>
          <p:cNvPr id="9" name="Text 6"/>
          <p:cNvSpPr txBox="1"/>
          <p:nvPr/>
        </p:nvSpPr>
        <p:spPr>
          <a:xfrm>
            <a:off x="777240" y="4526280"/>
            <a:ext cx="2880360" cy="1051560"/>
          </a:xfrm>
          <a:prstGeom prst="rect">
            <a:avLst/>
          </a:prstGeom>
          <a:noFill/>
          <a:ln/>
        </p:spPr>
        <p:txBody>
          <a:bodyPr wrap="square" lIns="0" tIns="0" rIns="0" bIns="0" rtlCol="0" anchor="ctr"/>
          <a:lstStyle/>
          <a:p>
            <a:pPr algn="ctr" indent="0" marL="0">
              <a:lnSpc>
                <a:spcPct val="120000"/>
              </a:lnSpc>
              <a:buNone/>
            </a:pPr>
            <a:r>
              <a:rPr lang="en-US" sz="1250" dirty="0">
                <a:solidFill>
                  <a:srgbClr val="5B7B7E"/>
                </a:solidFill>
                <a:latin typeface="Calibri" pitchFamily="34" charset="0"/>
                <a:ea typeface="Calibri" pitchFamily="34" charset="-122"/>
                <a:cs typeface="Calibri" pitchFamily="34" charset="-120"/>
              </a:rPr>
              <a:t>Private tutors put a price on getting unstuck -- not every student can pay it.</a:t>
            </a:r>
            <a:endParaRPr lang="en-US" sz="1250" dirty="0"/>
          </a:p>
        </p:txBody>
      </p:sp>
      <p:sp>
        <p:nvSpPr>
          <p:cNvPr id="10" name="Shape 7"/>
          <p:cNvSpPr/>
          <p:nvPr/>
        </p:nvSpPr>
        <p:spPr>
          <a:xfrm>
            <a:off x="4251960" y="2331720"/>
            <a:ext cx="3520440" cy="3383280"/>
          </a:xfrm>
          <a:prstGeom prst="roundRect">
            <a:avLst>
              <a:gd name="adj" fmla="val 3243"/>
            </a:avLst>
          </a:prstGeom>
          <a:solidFill>
            <a:srgbClr val="EEF6F6"/>
          </a:solidFill>
          <a:ln/>
        </p:spPr>
      </p:sp>
      <p:sp>
        <p:nvSpPr>
          <p:cNvPr id="11" name="Shape 8"/>
          <p:cNvSpPr/>
          <p:nvPr/>
        </p:nvSpPr>
        <p:spPr>
          <a:xfrm>
            <a:off x="5509260" y="2697480"/>
            <a:ext cx="1005840" cy="1005840"/>
          </a:xfrm>
          <a:prstGeom prst="ellipse">
            <a:avLst/>
          </a:prstGeom>
          <a:solidFill>
            <a:srgbClr val="028090"/>
          </a:solidFill>
          <a:ln/>
        </p:spPr>
      </p:sp>
      <p:pic>
        <p:nvPicPr>
          <p:cNvPr id="12" name="Image 1" descr="/home/claude/pptx_build/icons/brain-white.png">    </p:cNvPr>
          <p:cNvPicPr>
            <a:picLocks noChangeAspect="1"/>
          </p:cNvPicPr>
          <p:nvPr/>
        </p:nvPicPr>
        <p:blipFill>
          <a:blip r:embed="rId2"/>
          <a:stretch>
            <a:fillRect/>
          </a:stretch>
        </p:blipFill>
        <p:spPr>
          <a:xfrm>
            <a:off x="5760720" y="2948940"/>
            <a:ext cx="502920" cy="502920"/>
          </a:xfrm>
          <a:prstGeom prst="rect">
            <a:avLst/>
          </a:prstGeom>
        </p:spPr>
      </p:pic>
      <p:sp>
        <p:nvSpPr>
          <p:cNvPr id="13" name="Text 9"/>
          <p:cNvSpPr txBox="1"/>
          <p:nvPr/>
        </p:nvSpPr>
        <p:spPr>
          <a:xfrm>
            <a:off x="4526280" y="3931920"/>
            <a:ext cx="2971800" cy="548640"/>
          </a:xfrm>
          <a:prstGeom prst="rect">
            <a:avLst/>
          </a:prstGeom>
          <a:noFill/>
          <a:ln/>
        </p:spPr>
        <p:txBody>
          <a:bodyPr wrap="square" lIns="0" tIns="0" rIns="0" bIns="0" rtlCol="0" anchor="ctr"/>
          <a:lstStyle/>
          <a:p>
            <a:pPr algn="ctr" indent="0" marL="0">
              <a:buNone/>
            </a:pPr>
            <a:r>
              <a:rPr lang="en-US" sz="1700" b="1" dirty="0">
                <a:solidFill>
                  <a:srgbClr val="0B2B2E"/>
                </a:solidFill>
                <a:latin typeface="Cambria" pitchFamily="34" charset="0"/>
                <a:ea typeface="Cambria" pitchFamily="34" charset="-122"/>
                <a:cs typeface="Cambria" pitchFamily="34" charset="-120"/>
              </a:rPr>
              <a:t>Skills sit idle</a:t>
            </a:r>
            <a:endParaRPr lang="en-US" sz="1700" dirty="0"/>
          </a:p>
        </p:txBody>
      </p:sp>
      <p:sp>
        <p:nvSpPr>
          <p:cNvPr id="14" name="Text 10"/>
          <p:cNvSpPr txBox="1"/>
          <p:nvPr/>
        </p:nvSpPr>
        <p:spPr>
          <a:xfrm>
            <a:off x="4572000" y="4526280"/>
            <a:ext cx="2880360" cy="1051560"/>
          </a:xfrm>
          <a:prstGeom prst="rect">
            <a:avLst/>
          </a:prstGeom>
          <a:noFill/>
          <a:ln/>
        </p:spPr>
        <p:txBody>
          <a:bodyPr wrap="square" lIns="0" tIns="0" rIns="0" bIns="0" rtlCol="0" anchor="ctr"/>
          <a:lstStyle/>
          <a:p>
            <a:pPr algn="ctr" indent="0" marL="0">
              <a:lnSpc>
                <a:spcPct val="120000"/>
              </a:lnSpc>
              <a:buNone/>
            </a:pPr>
            <a:r>
              <a:rPr lang="en-US" sz="1250" dirty="0">
                <a:solidFill>
                  <a:srgbClr val="5B7B7E"/>
                </a:solidFill>
                <a:latin typeface="Calibri" pitchFamily="34" charset="0"/>
                <a:ea typeface="Calibri" pitchFamily="34" charset="-122"/>
                <a:cs typeface="Calibri" pitchFamily="34" charset="-120"/>
              </a:rPr>
              <a:t>Every student already knows something useful, with no easy way to trade it for what they need.</a:t>
            </a:r>
            <a:endParaRPr lang="en-US" sz="1250" dirty="0"/>
          </a:p>
        </p:txBody>
      </p:sp>
      <p:sp>
        <p:nvSpPr>
          <p:cNvPr id="15" name="Shape 11"/>
          <p:cNvSpPr/>
          <p:nvPr/>
        </p:nvSpPr>
        <p:spPr>
          <a:xfrm>
            <a:off x="8046720" y="2331720"/>
            <a:ext cx="3520440" cy="3383280"/>
          </a:xfrm>
          <a:prstGeom prst="roundRect">
            <a:avLst>
              <a:gd name="adj" fmla="val 3243"/>
            </a:avLst>
          </a:prstGeom>
          <a:solidFill>
            <a:srgbClr val="EEF6F6"/>
          </a:solidFill>
          <a:ln/>
        </p:spPr>
      </p:sp>
      <p:sp>
        <p:nvSpPr>
          <p:cNvPr id="16" name="Shape 12"/>
          <p:cNvSpPr/>
          <p:nvPr/>
        </p:nvSpPr>
        <p:spPr>
          <a:xfrm>
            <a:off x="9304020" y="2697480"/>
            <a:ext cx="1005840" cy="1005840"/>
          </a:xfrm>
          <a:prstGeom prst="ellipse">
            <a:avLst/>
          </a:prstGeom>
          <a:solidFill>
            <a:srgbClr val="028090"/>
          </a:solidFill>
          <a:ln/>
        </p:spPr>
      </p:sp>
      <p:pic>
        <p:nvPicPr>
          <p:cNvPr id="17" name="Image 2" descr="/home/claude/pptx_build/icons/puzzle-white.png">    </p:cNvPr>
          <p:cNvPicPr>
            <a:picLocks noChangeAspect="1"/>
          </p:cNvPicPr>
          <p:nvPr/>
        </p:nvPicPr>
        <p:blipFill>
          <a:blip r:embed="rId3"/>
          <a:stretch>
            <a:fillRect/>
          </a:stretch>
        </p:blipFill>
        <p:spPr>
          <a:xfrm>
            <a:off x="9555480" y="2948940"/>
            <a:ext cx="502920" cy="502920"/>
          </a:xfrm>
          <a:prstGeom prst="rect">
            <a:avLst/>
          </a:prstGeom>
        </p:spPr>
      </p:pic>
      <p:sp>
        <p:nvSpPr>
          <p:cNvPr id="18" name="Text 13"/>
          <p:cNvSpPr txBox="1"/>
          <p:nvPr/>
        </p:nvSpPr>
        <p:spPr>
          <a:xfrm>
            <a:off x="8321040" y="3931920"/>
            <a:ext cx="2971800" cy="548640"/>
          </a:xfrm>
          <a:prstGeom prst="rect">
            <a:avLst/>
          </a:prstGeom>
          <a:noFill/>
          <a:ln/>
        </p:spPr>
        <p:txBody>
          <a:bodyPr wrap="square" lIns="0" tIns="0" rIns="0" bIns="0" rtlCol="0" anchor="ctr"/>
          <a:lstStyle/>
          <a:p>
            <a:pPr algn="ctr" indent="0" marL="0">
              <a:buNone/>
            </a:pPr>
            <a:r>
              <a:rPr lang="en-US" sz="1700" b="1" dirty="0">
                <a:solidFill>
                  <a:srgbClr val="0B2B2E"/>
                </a:solidFill>
                <a:latin typeface="Cambria" pitchFamily="34" charset="0"/>
                <a:ea typeface="Cambria" pitchFamily="34" charset="-122"/>
                <a:cs typeface="Cambria" pitchFamily="34" charset="-120"/>
              </a:rPr>
              <a:t>No structured match</a:t>
            </a:r>
            <a:endParaRPr lang="en-US" sz="1700" dirty="0"/>
          </a:p>
        </p:txBody>
      </p:sp>
      <p:sp>
        <p:nvSpPr>
          <p:cNvPr id="19" name="Text 14"/>
          <p:cNvSpPr txBox="1"/>
          <p:nvPr/>
        </p:nvSpPr>
        <p:spPr>
          <a:xfrm>
            <a:off x="8366760" y="4526280"/>
            <a:ext cx="2880360" cy="1051560"/>
          </a:xfrm>
          <a:prstGeom prst="rect">
            <a:avLst/>
          </a:prstGeom>
          <a:noFill/>
          <a:ln/>
        </p:spPr>
        <p:txBody>
          <a:bodyPr wrap="square" lIns="0" tIns="0" rIns="0" bIns="0" rtlCol="0" anchor="ctr"/>
          <a:lstStyle/>
          <a:p>
            <a:pPr algn="ctr" indent="0" marL="0">
              <a:lnSpc>
                <a:spcPct val="120000"/>
              </a:lnSpc>
              <a:buNone/>
            </a:pPr>
            <a:r>
              <a:rPr lang="en-US" sz="1250" dirty="0">
                <a:solidFill>
                  <a:srgbClr val="5B7B7E"/>
                </a:solidFill>
                <a:latin typeface="Calibri" pitchFamily="34" charset="0"/>
                <a:ea typeface="Calibri" pitchFamily="34" charset="-122"/>
                <a:cs typeface="Calibri" pitchFamily="34" charset="-120"/>
              </a:rPr>
              <a:t>Nothing on most campuses pairs 'I know X' with the classmate who wants exactly X.</a:t>
            </a:r>
            <a:endParaRPr lang="en-US" sz="1250" dirty="0"/>
          </a:p>
        </p:txBody>
      </p:sp>
      <p:sp>
        <p:nvSpPr>
          <p:cNvPr id="20" name="Text 15"/>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21" name="Text 16"/>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List. Match. Swap.</a:t>
            </a:r>
            <a:endParaRPr lang="en-US" sz="3200" dirty="0"/>
          </a:p>
        </p:txBody>
      </p:sp>
      <p:sp>
        <p:nvSpPr>
          <p:cNvPr id="4" name="Text 2"/>
          <p:cNvSpPr txBox="1"/>
          <p:nvPr/>
        </p:nvSpPr>
        <p:spPr>
          <a:xfrm>
            <a:off x="457200" y="1417320"/>
            <a:ext cx="10972800" cy="457200"/>
          </a:xfrm>
          <a:prstGeom prst="rect">
            <a:avLst/>
          </a:prstGeom>
          <a:noFill/>
          <a:ln/>
        </p:spPr>
        <p:txBody>
          <a:bodyPr wrap="square" lIns="0" tIns="0" rIns="0" bIns="0" rtlCol="0" anchor="ctr"/>
          <a:lstStyle/>
          <a:p>
            <a:pPr indent="0" marL="0">
              <a:buNone/>
            </a:pPr>
            <a:r>
              <a:rPr lang="en-US" sz="1500" dirty="0">
                <a:solidFill>
                  <a:srgbClr val="5B7B7E"/>
                </a:solidFill>
                <a:latin typeface="Calibri" pitchFamily="34" charset="0"/>
                <a:ea typeface="Calibri" pitchFamily="34" charset="-122"/>
                <a:cs typeface="Calibri" pitchFamily="34" charset="-120"/>
              </a:rPr>
              <a:t>An explainable, campus-verified skill exchange -- three steps from sign-up to a completed session.</a:t>
            </a:r>
            <a:endParaRPr lang="en-US" sz="1500" dirty="0"/>
          </a:p>
        </p:txBody>
      </p:sp>
      <p:sp>
        <p:nvSpPr>
          <p:cNvPr id="5" name="Shape 3"/>
          <p:cNvSpPr/>
          <p:nvPr/>
        </p:nvSpPr>
        <p:spPr>
          <a:xfrm>
            <a:off x="457200" y="2468880"/>
            <a:ext cx="3063240" cy="3017520"/>
          </a:xfrm>
          <a:prstGeom prst="roundRect">
            <a:avLst>
              <a:gd name="adj" fmla="val 3636"/>
            </a:avLst>
          </a:prstGeom>
          <a:solidFill>
            <a:srgbClr val="013A40"/>
          </a:solidFill>
          <a:ln/>
        </p:spPr>
      </p:sp>
      <p:sp>
        <p:nvSpPr>
          <p:cNvPr id="6" name="Shape 4"/>
          <p:cNvSpPr/>
          <p:nvPr/>
        </p:nvSpPr>
        <p:spPr>
          <a:xfrm>
            <a:off x="1485900" y="2834640"/>
            <a:ext cx="1005840" cy="1005840"/>
          </a:xfrm>
          <a:prstGeom prst="ellipse">
            <a:avLst/>
          </a:prstGeom>
          <a:solidFill>
            <a:srgbClr val="00A896"/>
          </a:solidFill>
          <a:ln/>
        </p:spPr>
      </p:sp>
      <p:pic>
        <p:nvPicPr>
          <p:cNvPr id="7" name="Image 0" descr="/home/claude/pptx_build/icons/list-white.png">    </p:cNvPr>
          <p:cNvPicPr>
            <a:picLocks noChangeAspect="1"/>
          </p:cNvPicPr>
          <p:nvPr/>
        </p:nvPicPr>
        <p:blipFill>
          <a:blip r:embed="rId1"/>
          <a:stretch>
            <a:fillRect/>
          </a:stretch>
        </p:blipFill>
        <p:spPr>
          <a:xfrm>
            <a:off x="1737360" y="3086100"/>
            <a:ext cx="502920" cy="502920"/>
          </a:xfrm>
          <a:prstGeom prst="rect">
            <a:avLst/>
          </a:prstGeom>
        </p:spPr>
      </p:pic>
      <p:sp>
        <p:nvSpPr>
          <p:cNvPr id="8" name="Text 5"/>
          <p:cNvSpPr/>
          <p:nvPr/>
        </p:nvSpPr>
        <p:spPr>
          <a:xfrm>
            <a:off x="640080" y="2606040"/>
            <a:ext cx="457200" cy="365760"/>
          </a:xfrm>
          <a:prstGeom prst="rect">
            <a:avLst/>
          </a:prstGeom>
          <a:noFill/>
          <a:ln/>
        </p:spPr>
        <p:txBody>
          <a:bodyPr wrap="square" rtlCol="0" anchor="ctr"/>
          <a:lstStyle/>
          <a:p>
            <a:pPr indent="0" marL="0">
              <a:buNone/>
            </a:pPr>
            <a:r>
              <a:rPr lang="en-US" sz="1400" b="1" dirty="0">
                <a:solidFill>
                  <a:srgbClr val="02C39A"/>
                </a:solidFill>
                <a:latin typeface="Cambria" pitchFamily="34" charset="0"/>
                <a:ea typeface="Cambria" pitchFamily="34" charset="-122"/>
                <a:cs typeface="Cambria" pitchFamily="34" charset="-120"/>
              </a:rPr>
              <a:t>1</a:t>
            </a:r>
            <a:endParaRPr lang="en-US" sz="1400" dirty="0"/>
          </a:p>
        </p:txBody>
      </p:sp>
      <p:sp>
        <p:nvSpPr>
          <p:cNvPr id="9" name="Text 6"/>
          <p:cNvSpPr txBox="1"/>
          <p:nvPr/>
        </p:nvSpPr>
        <p:spPr>
          <a:xfrm>
            <a:off x="685800" y="4069080"/>
            <a:ext cx="2606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List</a:t>
            </a:r>
            <a:endParaRPr lang="en-US" sz="2000" dirty="0"/>
          </a:p>
        </p:txBody>
      </p:sp>
      <p:sp>
        <p:nvSpPr>
          <p:cNvPr id="10" name="Text 7"/>
          <p:cNvSpPr txBox="1"/>
          <p:nvPr/>
        </p:nvSpPr>
        <p:spPr>
          <a:xfrm>
            <a:off x="731520" y="4572000"/>
            <a:ext cx="2514600" cy="822960"/>
          </a:xfrm>
          <a:prstGeom prst="rect">
            <a:avLst/>
          </a:prstGeom>
          <a:noFill/>
          <a:ln/>
        </p:spPr>
        <p:txBody>
          <a:bodyPr wrap="square" lIns="0" tIns="0" rIns="0" bIns="0" rtlCol="0" anchor="ctr"/>
          <a:lstStyle/>
          <a:p>
            <a:pPr algn="ctr" indent="0" marL="0">
              <a:lnSpc>
                <a:spcPct val="120000"/>
              </a:lnSpc>
              <a:buNone/>
            </a:pPr>
            <a:r>
              <a:rPr lang="en-US" sz="1300" dirty="0">
                <a:solidFill>
                  <a:srgbClr val="D8EFEE"/>
                </a:solidFill>
                <a:latin typeface="Calibri" pitchFamily="34" charset="0"/>
                <a:ea typeface="Calibri" pitchFamily="34" charset="-122"/>
                <a:cs typeface="Calibri" pitchFamily="34" charset="-120"/>
              </a:rPr>
              <a:t>Add what you teach and what you want to learn.</a:t>
            </a:r>
            <a:endParaRPr lang="en-US" sz="1300" dirty="0"/>
          </a:p>
        </p:txBody>
      </p:sp>
      <p:sp>
        <p:nvSpPr>
          <p:cNvPr id="11" name="Text 8"/>
          <p:cNvSpPr txBox="1"/>
          <p:nvPr/>
        </p:nvSpPr>
        <p:spPr>
          <a:xfrm>
            <a:off x="3520440" y="3611880"/>
            <a:ext cx="685800" cy="731520"/>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a:t>
            </a:r>
            <a:endParaRPr lang="en-US" sz="3200" dirty="0"/>
          </a:p>
        </p:txBody>
      </p:sp>
      <p:sp>
        <p:nvSpPr>
          <p:cNvPr id="12" name="Shape 9"/>
          <p:cNvSpPr/>
          <p:nvPr/>
        </p:nvSpPr>
        <p:spPr>
          <a:xfrm>
            <a:off x="4206240" y="2468880"/>
            <a:ext cx="3063240" cy="3017520"/>
          </a:xfrm>
          <a:prstGeom prst="roundRect">
            <a:avLst>
              <a:gd name="adj" fmla="val 3636"/>
            </a:avLst>
          </a:prstGeom>
          <a:solidFill>
            <a:srgbClr val="013A40"/>
          </a:solidFill>
          <a:ln/>
        </p:spPr>
      </p:sp>
      <p:sp>
        <p:nvSpPr>
          <p:cNvPr id="13" name="Shape 10"/>
          <p:cNvSpPr/>
          <p:nvPr/>
        </p:nvSpPr>
        <p:spPr>
          <a:xfrm>
            <a:off x="5234940" y="2834640"/>
            <a:ext cx="1005840" cy="1005840"/>
          </a:xfrm>
          <a:prstGeom prst="ellipse">
            <a:avLst/>
          </a:prstGeom>
          <a:solidFill>
            <a:srgbClr val="00A896"/>
          </a:solidFill>
          <a:ln/>
        </p:spPr>
      </p:sp>
      <p:pic>
        <p:nvPicPr>
          <p:cNvPr id="14" name="Image 1" descr="/home/claude/pptx_build/icons/target-white.png">    </p:cNvPr>
          <p:cNvPicPr>
            <a:picLocks noChangeAspect="1"/>
          </p:cNvPicPr>
          <p:nvPr/>
        </p:nvPicPr>
        <p:blipFill>
          <a:blip r:embed="rId2"/>
          <a:stretch>
            <a:fillRect/>
          </a:stretch>
        </p:blipFill>
        <p:spPr>
          <a:xfrm>
            <a:off x="5486400" y="3086100"/>
            <a:ext cx="502920" cy="502920"/>
          </a:xfrm>
          <a:prstGeom prst="rect">
            <a:avLst/>
          </a:prstGeom>
        </p:spPr>
      </p:pic>
      <p:sp>
        <p:nvSpPr>
          <p:cNvPr id="15" name="Text 11"/>
          <p:cNvSpPr/>
          <p:nvPr/>
        </p:nvSpPr>
        <p:spPr>
          <a:xfrm>
            <a:off x="4389120" y="2606040"/>
            <a:ext cx="457200" cy="365760"/>
          </a:xfrm>
          <a:prstGeom prst="rect">
            <a:avLst/>
          </a:prstGeom>
          <a:noFill/>
          <a:ln/>
        </p:spPr>
        <p:txBody>
          <a:bodyPr wrap="square" rtlCol="0" anchor="ctr"/>
          <a:lstStyle/>
          <a:p>
            <a:pPr indent="0" marL="0">
              <a:buNone/>
            </a:pPr>
            <a:r>
              <a:rPr lang="en-US" sz="1400" b="1" dirty="0">
                <a:solidFill>
                  <a:srgbClr val="02C39A"/>
                </a:solidFill>
                <a:latin typeface="Cambria" pitchFamily="34" charset="0"/>
                <a:ea typeface="Cambria" pitchFamily="34" charset="-122"/>
                <a:cs typeface="Cambria" pitchFamily="34" charset="-120"/>
              </a:rPr>
              <a:t>2</a:t>
            </a:r>
            <a:endParaRPr lang="en-US" sz="1400" dirty="0"/>
          </a:p>
        </p:txBody>
      </p:sp>
      <p:sp>
        <p:nvSpPr>
          <p:cNvPr id="16" name="Text 12"/>
          <p:cNvSpPr txBox="1"/>
          <p:nvPr/>
        </p:nvSpPr>
        <p:spPr>
          <a:xfrm>
            <a:off x="4434840" y="4069080"/>
            <a:ext cx="2606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Match</a:t>
            </a:r>
            <a:endParaRPr lang="en-US" sz="2000" dirty="0"/>
          </a:p>
        </p:txBody>
      </p:sp>
      <p:sp>
        <p:nvSpPr>
          <p:cNvPr id="17" name="Text 13"/>
          <p:cNvSpPr txBox="1"/>
          <p:nvPr/>
        </p:nvSpPr>
        <p:spPr>
          <a:xfrm>
            <a:off x="4480560" y="4572000"/>
            <a:ext cx="2514600" cy="822960"/>
          </a:xfrm>
          <a:prstGeom prst="rect">
            <a:avLst/>
          </a:prstGeom>
          <a:noFill/>
          <a:ln/>
        </p:spPr>
        <p:txBody>
          <a:bodyPr wrap="square" lIns="0" tIns="0" rIns="0" bIns="0" rtlCol="0" anchor="ctr"/>
          <a:lstStyle/>
          <a:p>
            <a:pPr algn="ctr" indent="0" marL="0">
              <a:lnSpc>
                <a:spcPct val="120000"/>
              </a:lnSpc>
              <a:buNone/>
            </a:pPr>
            <a:r>
              <a:rPr lang="en-US" sz="1300" dirty="0">
                <a:solidFill>
                  <a:srgbClr val="D8EFEE"/>
                </a:solidFill>
                <a:latin typeface="Calibri" pitchFamily="34" charset="0"/>
                <a:ea typeface="Calibri" pitchFamily="34" charset="-122"/>
                <a:cs typeface="Calibri" pitchFamily="34" charset="-120"/>
              </a:rPr>
              <a:t>Get ranked, explainable matches with classmates.</a:t>
            </a:r>
            <a:endParaRPr lang="en-US" sz="1300" dirty="0"/>
          </a:p>
        </p:txBody>
      </p:sp>
      <p:sp>
        <p:nvSpPr>
          <p:cNvPr id="18" name="Text 14"/>
          <p:cNvSpPr txBox="1"/>
          <p:nvPr/>
        </p:nvSpPr>
        <p:spPr>
          <a:xfrm>
            <a:off x="7269480" y="3611880"/>
            <a:ext cx="685800" cy="731520"/>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a:t>
            </a:r>
            <a:endParaRPr lang="en-US" sz="3200" dirty="0"/>
          </a:p>
        </p:txBody>
      </p:sp>
      <p:sp>
        <p:nvSpPr>
          <p:cNvPr id="19" name="Shape 15"/>
          <p:cNvSpPr/>
          <p:nvPr/>
        </p:nvSpPr>
        <p:spPr>
          <a:xfrm>
            <a:off x="7955280" y="2468880"/>
            <a:ext cx="3063240" cy="3017520"/>
          </a:xfrm>
          <a:prstGeom prst="roundRect">
            <a:avLst>
              <a:gd name="adj" fmla="val 3636"/>
            </a:avLst>
          </a:prstGeom>
          <a:solidFill>
            <a:srgbClr val="013A40"/>
          </a:solidFill>
          <a:ln/>
        </p:spPr>
      </p:sp>
      <p:sp>
        <p:nvSpPr>
          <p:cNvPr id="20" name="Shape 16"/>
          <p:cNvSpPr/>
          <p:nvPr/>
        </p:nvSpPr>
        <p:spPr>
          <a:xfrm>
            <a:off x="8983980" y="2834640"/>
            <a:ext cx="1005840" cy="1005840"/>
          </a:xfrm>
          <a:prstGeom prst="ellipse">
            <a:avLst/>
          </a:prstGeom>
          <a:solidFill>
            <a:srgbClr val="00A896"/>
          </a:solidFill>
          <a:ln/>
        </p:spPr>
      </p:sp>
      <p:pic>
        <p:nvPicPr>
          <p:cNvPr id="21" name="Image 2" descr="/home/claude/pptx_build/icons/handshake-white.png">    </p:cNvPr>
          <p:cNvPicPr>
            <a:picLocks noChangeAspect="1"/>
          </p:cNvPicPr>
          <p:nvPr/>
        </p:nvPicPr>
        <p:blipFill>
          <a:blip r:embed="rId3"/>
          <a:stretch>
            <a:fillRect/>
          </a:stretch>
        </p:blipFill>
        <p:spPr>
          <a:xfrm>
            <a:off x="9235440" y="3086100"/>
            <a:ext cx="502920" cy="502920"/>
          </a:xfrm>
          <a:prstGeom prst="rect">
            <a:avLst/>
          </a:prstGeom>
        </p:spPr>
      </p:pic>
      <p:sp>
        <p:nvSpPr>
          <p:cNvPr id="22" name="Text 17"/>
          <p:cNvSpPr/>
          <p:nvPr/>
        </p:nvSpPr>
        <p:spPr>
          <a:xfrm>
            <a:off x="8138160" y="2606040"/>
            <a:ext cx="457200" cy="365760"/>
          </a:xfrm>
          <a:prstGeom prst="rect">
            <a:avLst/>
          </a:prstGeom>
          <a:noFill/>
          <a:ln/>
        </p:spPr>
        <p:txBody>
          <a:bodyPr wrap="square" rtlCol="0" anchor="ctr"/>
          <a:lstStyle/>
          <a:p>
            <a:pPr indent="0" marL="0">
              <a:buNone/>
            </a:pPr>
            <a:r>
              <a:rPr lang="en-US" sz="1400" b="1" dirty="0">
                <a:solidFill>
                  <a:srgbClr val="02C39A"/>
                </a:solidFill>
                <a:latin typeface="Cambria" pitchFamily="34" charset="0"/>
                <a:ea typeface="Cambria" pitchFamily="34" charset="-122"/>
                <a:cs typeface="Cambria" pitchFamily="34" charset="-120"/>
              </a:rPr>
              <a:t>3</a:t>
            </a:r>
            <a:endParaRPr lang="en-US" sz="1400" dirty="0"/>
          </a:p>
        </p:txBody>
      </p:sp>
      <p:sp>
        <p:nvSpPr>
          <p:cNvPr id="23" name="Text 18"/>
          <p:cNvSpPr txBox="1"/>
          <p:nvPr/>
        </p:nvSpPr>
        <p:spPr>
          <a:xfrm>
            <a:off x="8183880" y="4069080"/>
            <a:ext cx="2606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Swap</a:t>
            </a:r>
            <a:endParaRPr lang="en-US" sz="2000" dirty="0"/>
          </a:p>
        </p:txBody>
      </p:sp>
      <p:sp>
        <p:nvSpPr>
          <p:cNvPr id="24" name="Text 19"/>
          <p:cNvSpPr txBox="1"/>
          <p:nvPr/>
        </p:nvSpPr>
        <p:spPr>
          <a:xfrm>
            <a:off x="8229600" y="4572000"/>
            <a:ext cx="2514600" cy="822960"/>
          </a:xfrm>
          <a:prstGeom prst="rect">
            <a:avLst/>
          </a:prstGeom>
          <a:noFill/>
          <a:ln/>
        </p:spPr>
        <p:txBody>
          <a:bodyPr wrap="square" lIns="0" tIns="0" rIns="0" bIns="0" rtlCol="0" anchor="ctr"/>
          <a:lstStyle/>
          <a:p>
            <a:pPr algn="ctr" indent="0" marL="0">
              <a:lnSpc>
                <a:spcPct val="120000"/>
              </a:lnSpc>
              <a:buNone/>
            </a:pPr>
            <a:r>
              <a:rPr lang="en-US" sz="1300" dirty="0">
                <a:solidFill>
                  <a:srgbClr val="D8EFEE"/>
                </a:solidFill>
                <a:latin typeface="Calibri" pitchFamily="34" charset="0"/>
                <a:ea typeface="Calibri" pitchFamily="34" charset="-122"/>
                <a:cs typeface="Calibri" pitchFamily="34" charset="-120"/>
              </a:rPr>
              <a:t>Request, accept, complete and review -- credits, not cash.</a:t>
            </a:r>
            <a:endParaRPr lang="en-US" sz="1300" dirty="0"/>
          </a:p>
        </p:txBody>
      </p:sp>
      <p:sp>
        <p:nvSpPr>
          <p:cNvPr id="25" name="Text 20"/>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26" name="Text 21"/>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TECHNICAL IMPLEMENTATION</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A transparent scoring engine, not a black box</a:t>
            </a:r>
            <a:endParaRPr lang="en-US" sz="3200" dirty="0"/>
          </a:p>
        </p:txBody>
      </p:sp>
      <p:sp>
        <p:nvSpPr>
          <p:cNvPr id="4" name="Text 2"/>
          <p:cNvSpPr txBox="1"/>
          <p:nvPr/>
        </p:nvSpPr>
        <p:spPr>
          <a:xfrm>
            <a:off x="457200" y="1417320"/>
            <a:ext cx="11247120" cy="457200"/>
          </a:xfrm>
          <a:prstGeom prst="rect">
            <a:avLst/>
          </a:prstGeom>
          <a:noFill/>
          <a:ln/>
        </p:spPr>
        <p:txBody>
          <a:bodyPr wrap="square" lIns="0" tIns="0" rIns="0" bIns="0" rtlCol="0" anchor="ctr"/>
          <a:lstStyle/>
          <a:p>
            <a:pPr indent="0" marL="0">
              <a:buNone/>
            </a:pPr>
            <a:r>
              <a:rPr lang="en-US" sz="1500" dirty="0">
                <a:solidFill>
                  <a:srgbClr val="5B7B7E"/>
                </a:solidFill>
                <a:latin typeface="Calibri" pitchFamily="34" charset="0"/>
                <a:ea typeface="Calibri" pitchFamily="34" charset="-122"/>
                <a:cs typeface="Calibri" pitchFamily="34" charset="-120"/>
              </a:rPr>
              <a:t>Every pair of students is scored by an explainable formula -- and the app shows the breakdown on the match card.</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6949440" cy="914400"/>
        </p:xfrm>
        <a:graphic>
          <a:graphicData uri="http://schemas.openxmlformats.org/drawingml/2006/table">
            <a:tbl>
              <a:tblPr/>
              <a:tblGrid>
                <a:gridCol w="5029200"/>
                <a:gridCol w="1920240"/>
              </a:tblGrid>
              <a:tr h="51206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Signal</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Points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28090"/>
                    </a:solidFill>
                  </a:tcPr>
                </a:tc>
              </a:tr>
              <a:tr h="512064">
                <a:tc>
                  <a:txBody>
                    <a:bodyPr/>
                    <a:lstStyle/>
                    <a:p>
                      <a:pPr algn="l" indent="0" marL="0">
                        <a:buNone/>
                      </a:pPr>
                      <a:r>
                        <a:rPr lang="en-US" sz="1250" dirty="0">
                          <a:solidFill>
                            <a:srgbClr val="0B2B2E"/>
                          </a:solidFill>
                          <a:latin typeface="Calibri" pitchFamily="34" charset="0"/>
                          <a:ea typeface="Calibri" pitchFamily="34" charset="-122"/>
                          <a:cs typeface="Calibri" pitchFamily="34" charset="-120"/>
                        </a:rPr>
                        <a:t>They teach a skill on my want-list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50" dirty="0">
                          <a:solidFill>
                            <a:srgbClr val="0B2B2E"/>
                          </a:solidFill>
                          <a:latin typeface="Calibri" pitchFamily="34" charset="0"/>
                          <a:ea typeface="Calibri" pitchFamily="34" charset="-122"/>
                          <a:cs typeface="Calibri" pitchFamily="34" charset="-120"/>
                        </a:rPr>
                        <a:t>+25 per skill (max 2)</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l" indent="0" marL="0">
                        <a:buNone/>
                      </a:pPr>
                      <a:r>
                        <a:rPr lang="en-US" sz="1250" dirty="0">
                          <a:solidFill>
                            <a:srgbClr val="0B2B2E"/>
                          </a:solidFill>
                          <a:latin typeface="Calibri" pitchFamily="34" charset="0"/>
                          <a:ea typeface="Calibri" pitchFamily="34" charset="-122"/>
                          <a:cs typeface="Calibri" pitchFamily="34" charset="-120"/>
                        </a:rPr>
                        <a:t>I teach a skill on their want-list</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BFB"/>
                    </a:solidFill>
                  </a:tcPr>
                </a:tc>
                <a:tc>
                  <a:txBody>
                    <a:bodyPr/>
                    <a:lstStyle/>
                    <a:p>
                      <a:pPr algn="r" indent="0" marL="0">
                        <a:buNone/>
                      </a:pPr>
                      <a:r>
                        <a:rPr lang="en-US" sz="1250" dirty="0">
                          <a:solidFill>
                            <a:srgbClr val="0B2B2E"/>
                          </a:solidFill>
                          <a:latin typeface="Calibri" pitchFamily="34" charset="0"/>
                          <a:ea typeface="Calibri" pitchFamily="34" charset="-122"/>
                          <a:cs typeface="Calibri" pitchFamily="34" charset="-120"/>
                        </a:rPr>
                        <a:t>+25 per skill (max 2)</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BFB"/>
                    </a:solidFill>
                  </a:tcPr>
                </a:tc>
              </a:tr>
              <a:tr h="512064">
                <a:tc>
                  <a:txBody>
                    <a:bodyPr/>
                    <a:lstStyle/>
                    <a:p>
                      <a:pPr algn="l" indent="0" marL="0">
                        <a:buNone/>
                      </a:pPr>
                      <a:r>
                        <a:rPr lang="en-US" sz="1250" dirty="0">
                          <a:solidFill>
                            <a:srgbClr val="0B2B2E"/>
                          </a:solidFill>
                          <a:latin typeface="Calibri" pitchFamily="34" charset="0"/>
                          <a:ea typeface="Calibri" pitchFamily="34" charset="-122"/>
                          <a:cs typeface="Calibri" pitchFamily="34" charset="-120"/>
                        </a:rPr>
                        <a:t>Two-way bonus -- the swap works both directions</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50" dirty="0">
                          <a:solidFill>
                            <a:srgbClr val="0B2B2E"/>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l" indent="0" marL="0">
                        <a:buNone/>
                      </a:pPr>
                      <a:r>
                        <a:rPr lang="en-US" sz="1250" dirty="0">
                          <a:solidFill>
                            <a:srgbClr val="0B2B2E"/>
                          </a:solidFill>
                          <a:latin typeface="Calibri" pitchFamily="34" charset="0"/>
                          <a:ea typeface="Calibri" pitchFamily="34" charset="-122"/>
                          <a:cs typeface="Calibri" pitchFamily="34" charset="-120"/>
                        </a:rPr>
                        <a:t>Same university</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BFB"/>
                    </a:solidFill>
                  </a:tcPr>
                </a:tc>
                <a:tc>
                  <a:txBody>
                    <a:bodyPr/>
                    <a:lstStyle/>
                    <a:p>
                      <a:pPr algn="r" indent="0" marL="0">
                        <a:buNone/>
                      </a:pPr>
                      <a:r>
                        <a:rPr lang="en-US" sz="1250" dirty="0">
                          <a:solidFill>
                            <a:srgbClr val="0B2B2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7FBFB"/>
                    </a:solidFill>
                  </a:tcPr>
                </a:tc>
              </a:tr>
              <a:tr h="512064">
                <a:tc>
                  <a:txBody>
                    <a:bodyPr/>
                    <a:lstStyle/>
                    <a:p>
                      <a:pPr algn="l" indent="0" marL="0">
                        <a:buNone/>
                      </a:pPr>
                      <a:r>
                        <a:rPr lang="en-US" sz="1250" dirty="0">
                          <a:solidFill>
                            <a:srgbClr val="0B2B2E"/>
                          </a:solidFill>
                          <a:latin typeface="Calibri" pitchFamily="34" charset="0"/>
                          <a:ea typeface="Calibri" pitchFamily="34" charset="-122"/>
                          <a:cs typeface="Calibri" pitchFamily="34" charset="-120"/>
                        </a:rPr>
                        <a:t>Trust bonus from their average review score</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250" dirty="0">
                          <a:solidFill>
                            <a:srgbClr val="0B2B2E"/>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algn="l" indent="0" marL="0">
                        <a:buNone/>
                      </a:pPr>
                      <a:r>
                        <a:rPr lang="en-US" sz="1250" b="1" dirty="0">
                          <a:solidFill>
                            <a:srgbClr val="0B2B2E"/>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6F6"/>
                    </a:solidFill>
                  </a:tcPr>
                </a:tc>
                <a:tc>
                  <a:txBody>
                    <a:bodyPr/>
                    <a:lstStyle/>
                    <a:p>
                      <a:pPr algn="r" indent="0" marL="0">
                        <a:buNone/>
                      </a:pPr>
                      <a:r>
                        <a:rPr lang="en-US" sz="1250" b="1" dirty="0">
                          <a:solidFill>
                            <a:srgbClr val="0B2B2E"/>
                          </a:solidFill>
                          <a:latin typeface="Calibri" pitchFamily="34" charset="0"/>
                          <a:ea typeface="Calibri" pitchFamily="34" charset="-122"/>
                          <a:cs typeface="Calibri" pitchFamily="34" charset="-120"/>
                        </a:rPr>
                        <a:t>capped at 100%</a:t>
                      </a:r>
                      <a:endParaRPr lang="en-US" sz="12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EF6F6"/>
                    </a:solidFill>
                  </a:tcPr>
                </a:tc>
              </a:tr>
            </a:tbl>
          </a:graphicData>
        </a:graphic>
      </p:graphicFrame>
      <p:sp>
        <p:nvSpPr>
          <p:cNvPr id="6" name="Shape 3"/>
          <p:cNvSpPr/>
          <p:nvPr/>
        </p:nvSpPr>
        <p:spPr>
          <a:xfrm>
            <a:off x="7772400" y="2057400"/>
            <a:ext cx="3931920" cy="3611880"/>
          </a:xfrm>
          <a:prstGeom prst="roundRect">
            <a:avLst>
              <a:gd name="adj" fmla="val 3544"/>
            </a:avLst>
          </a:prstGeom>
          <a:solidFill>
            <a:srgbClr val="013A40"/>
          </a:solidFill>
          <a:ln/>
        </p:spPr>
      </p:sp>
      <p:sp>
        <p:nvSpPr>
          <p:cNvPr id="7" name="Text 4"/>
          <p:cNvSpPr/>
          <p:nvPr/>
        </p:nvSpPr>
        <p:spPr>
          <a:xfrm>
            <a:off x="8046720" y="2258568"/>
            <a:ext cx="3383280" cy="274320"/>
          </a:xfrm>
          <a:prstGeom prst="rect">
            <a:avLst/>
          </a:prstGeom>
          <a:noFill/>
          <a:ln/>
        </p:spPr>
        <p:txBody>
          <a:bodyPr wrap="square" rtlCol="0" anchor="ctr"/>
          <a:lstStyle/>
          <a:p>
            <a:pPr indent="0" marL="0">
              <a:buNone/>
            </a:pPr>
            <a:r>
              <a:rPr lang="en-US" sz="1050" b="1" spc="200" kern="0" dirty="0">
                <a:solidFill>
                  <a:srgbClr val="02C39A"/>
                </a:solidFill>
                <a:latin typeface="Calibri" pitchFamily="34" charset="0"/>
                <a:ea typeface="Calibri" pitchFamily="34" charset="-122"/>
                <a:cs typeface="Calibri" pitchFamily="34" charset="-120"/>
              </a:rPr>
              <a:t>EXAMPLE MATCH CARD</a:t>
            </a:r>
            <a:endParaRPr lang="en-US" sz="1050" dirty="0"/>
          </a:p>
        </p:txBody>
      </p:sp>
      <p:sp>
        <p:nvSpPr>
          <p:cNvPr id="8" name="Shape 5"/>
          <p:cNvSpPr/>
          <p:nvPr/>
        </p:nvSpPr>
        <p:spPr>
          <a:xfrm>
            <a:off x="8046720" y="2651760"/>
            <a:ext cx="640080" cy="640080"/>
          </a:xfrm>
          <a:prstGeom prst="ellipse">
            <a:avLst/>
          </a:prstGeom>
          <a:solidFill>
            <a:srgbClr val="00A896"/>
          </a:solidFill>
          <a:ln/>
        </p:spPr>
      </p:sp>
      <p:pic>
        <p:nvPicPr>
          <p:cNvPr id="9" name="Image 0" descr="/home/claude/pptx_build/icons/cap-teal.png">    </p:cNvPr>
          <p:cNvPicPr>
            <a:picLocks noChangeAspect="1"/>
          </p:cNvPicPr>
          <p:nvPr/>
        </p:nvPicPr>
        <p:blipFill>
          <a:blip r:embed="rId1"/>
          <a:stretch>
            <a:fillRect/>
          </a:stretch>
        </p:blipFill>
        <p:spPr>
          <a:xfrm>
            <a:off x="8190738" y="2795778"/>
            <a:ext cx="352044" cy="352044"/>
          </a:xfrm>
          <a:prstGeom prst="rect">
            <a:avLst/>
          </a:prstGeom>
        </p:spPr>
      </p:pic>
      <p:sp>
        <p:nvSpPr>
          <p:cNvPr id="10" name="Text 6"/>
          <p:cNvSpPr txBox="1"/>
          <p:nvPr/>
        </p:nvSpPr>
        <p:spPr>
          <a:xfrm>
            <a:off x="8869680" y="2679192"/>
            <a:ext cx="256032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Alice Novak</a:t>
            </a:r>
            <a:endParaRPr lang="en-US" sz="1600" dirty="0"/>
          </a:p>
        </p:txBody>
      </p:sp>
      <p:sp>
        <p:nvSpPr>
          <p:cNvPr id="11" name="Text 7"/>
          <p:cNvSpPr txBox="1"/>
          <p:nvPr/>
        </p:nvSpPr>
        <p:spPr>
          <a:xfrm>
            <a:off x="8869680" y="2971800"/>
            <a:ext cx="2560320" cy="274320"/>
          </a:xfrm>
          <a:prstGeom prst="rect">
            <a:avLst/>
          </a:prstGeom>
          <a:noFill/>
          <a:ln/>
        </p:spPr>
        <p:txBody>
          <a:bodyPr wrap="square" lIns="0" tIns="0" rIns="0" bIns="0" rtlCol="0" anchor="ctr"/>
          <a:lstStyle/>
          <a:p>
            <a:pPr indent="0" marL="0">
              <a:buNone/>
            </a:pPr>
            <a:r>
              <a:rPr lang="en-US" sz="1100" dirty="0">
                <a:solidFill>
                  <a:srgbClr val="BFE3E1"/>
                </a:solidFill>
                <a:latin typeface="Calibri" pitchFamily="34" charset="0"/>
                <a:ea typeface="Calibri" pitchFamily="34" charset="-122"/>
                <a:cs typeface="Calibri" pitchFamily="34" charset="-120"/>
              </a:rPr>
              <a:t>UC Berkeley · Guitar, Spanish</a:t>
            </a:r>
            <a:endParaRPr lang="en-US" sz="1100" dirty="0"/>
          </a:p>
        </p:txBody>
      </p:sp>
      <p:sp>
        <p:nvSpPr>
          <p:cNvPr id="12" name="Text 8"/>
          <p:cNvSpPr txBox="1"/>
          <p:nvPr/>
        </p:nvSpPr>
        <p:spPr>
          <a:xfrm>
            <a:off x="10469880" y="2679192"/>
            <a:ext cx="960120" cy="548640"/>
          </a:xfrm>
          <a:prstGeom prst="rect">
            <a:avLst/>
          </a:prstGeom>
          <a:noFill/>
          <a:ln/>
        </p:spPr>
        <p:txBody>
          <a:bodyPr wrap="square" lIns="0" tIns="0" rIns="0" bIns="0" rtlCol="0" anchor="ctr"/>
          <a:lstStyle/>
          <a:p>
            <a:pPr algn="r" indent="0" marL="0">
              <a:buNone/>
            </a:pPr>
            <a:r>
              <a:rPr lang="en-US" sz="2600" b="1" dirty="0">
                <a:solidFill>
                  <a:srgbClr val="02C39A"/>
                </a:solidFill>
                <a:latin typeface="Cambria" pitchFamily="34" charset="0"/>
                <a:ea typeface="Cambria" pitchFamily="34" charset="-122"/>
                <a:cs typeface="Cambria" pitchFamily="34" charset="-120"/>
              </a:rPr>
              <a:t>100%</a:t>
            </a:r>
            <a:endParaRPr lang="en-US" sz="2600" dirty="0"/>
          </a:p>
        </p:txBody>
      </p:sp>
      <p:sp>
        <p:nvSpPr>
          <p:cNvPr id="13" name="Text 9"/>
          <p:cNvSpPr txBox="1"/>
          <p:nvPr/>
        </p:nvSpPr>
        <p:spPr>
          <a:xfrm>
            <a:off x="8046720" y="3657600"/>
            <a:ext cx="3383280" cy="365760"/>
          </a:xfrm>
          <a:prstGeom prst="rect">
            <a:avLst/>
          </a:prstGeom>
          <a:noFill/>
          <a:ln/>
        </p:spPr>
        <p:txBody>
          <a:bodyPr wrap="square" lIns="0" tIns="0" rIns="0" bIns="0" rtlCol="0" anchor="ctr"/>
          <a:lstStyle/>
          <a:p>
            <a:pPr indent="0" marL="0">
              <a:buNone/>
            </a:pPr>
            <a:r>
              <a:rPr lang="en-US" sz="1150" dirty="0">
                <a:solidFill>
                  <a:srgbClr val="E4F5F3"/>
                </a:solidFill>
                <a:latin typeface="Calibri" pitchFamily="34" charset="0"/>
                <a:ea typeface="Calibri" pitchFamily="34" charset="-122"/>
                <a:cs typeface="Calibri" pitchFamily="34" charset="-120"/>
              </a:rPr>
              <a:t>Teaches Guitar + Spanish (my wants)  +50</a:t>
            </a:r>
            <a:endParaRPr lang="en-US" sz="1150" dirty="0"/>
          </a:p>
        </p:txBody>
      </p:sp>
      <p:sp>
        <p:nvSpPr>
          <p:cNvPr id="14" name="Text 10"/>
          <p:cNvSpPr txBox="1"/>
          <p:nvPr/>
        </p:nvSpPr>
        <p:spPr>
          <a:xfrm>
            <a:off x="8046720" y="4041648"/>
            <a:ext cx="3383280" cy="365760"/>
          </a:xfrm>
          <a:prstGeom prst="rect">
            <a:avLst/>
          </a:prstGeom>
          <a:noFill/>
          <a:ln/>
        </p:spPr>
        <p:txBody>
          <a:bodyPr wrap="square" lIns="0" tIns="0" rIns="0" bIns="0" rtlCol="0" anchor="ctr"/>
          <a:lstStyle/>
          <a:p>
            <a:pPr indent="0" marL="0">
              <a:buNone/>
            </a:pPr>
            <a:r>
              <a:rPr lang="en-US" sz="1150" dirty="0">
                <a:solidFill>
                  <a:srgbClr val="E4F5F3"/>
                </a:solidFill>
                <a:latin typeface="Calibri" pitchFamily="34" charset="0"/>
                <a:ea typeface="Calibri" pitchFamily="34" charset="-122"/>
                <a:cs typeface="Calibri" pitchFamily="34" charset="-120"/>
              </a:rPr>
              <a:t>I teach Python + React (her wants)  +50</a:t>
            </a:r>
            <a:endParaRPr lang="en-US" sz="1150" dirty="0"/>
          </a:p>
        </p:txBody>
      </p:sp>
      <p:sp>
        <p:nvSpPr>
          <p:cNvPr id="15" name="Text 11"/>
          <p:cNvSpPr txBox="1"/>
          <p:nvPr/>
        </p:nvSpPr>
        <p:spPr>
          <a:xfrm>
            <a:off x="8046720" y="4425696"/>
            <a:ext cx="3383280" cy="365760"/>
          </a:xfrm>
          <a:prstGeom prst="rect">
            <a:avLst/>
          </a:prstGeom>
          <a:noFill/>
          <a:ln/>
        </p:spPr>
        <p:txBody>
          <a:bodyPr wrap="square" lIns="0" tIns="0" rIns="0" bIns="0" rtlCol="0" anchor="ctr"/>
          <a:lstStyle/>
          <a:p>
            <a:pPr indent="0" marL="0">
              <a:buNone/>
            </a:pPr>
            <a:r>
              <a:rPr lang="en-US" sz="1150" dirty="0">
                <a:solidFill>
                  <a:srgbClr val="E4F5F3"/>
                </a:solidFill>
                <a:latin typeface="Calibri" pitchFamily="34" charset="0"/>
                <a:ea typeface="Calibri" pitchFamily="34" charset="-122"/>
                <a:cs typeface="Calibri" pitchFamily="34" charset="-120"/>
              </a:rPr>
              <a:t>Two-way match bonus  +20</a:t>
            </a:r>
            <a:endParaRPr lang="en-US" sz="1150" dirty="0"/>
          </a:p>
        </p:txBody>
      </p:sp>
      <p:sp>
        <p:nvSpPr>
          <p:cNvPr id="16" name="Text 12"/>
          <p:cNvSpPr txBox="1"/>
          <p:nvPr/>
        </p:nvSpPr>
        <p:spPr>
          <a:xfrm>
            <a:off x="8046720" y="4809744"/>
            <a:ext cx="3383280" cy="365760"/>
          </a:xfrm>
          <a:prstGeom prst="rect">
            <a:avLst/>
          </a:prstGeom>
          <a:noFill/>
          <a:ln/>
        </p:spPr>
        <p:txBody>
          <a:bodyPr wrap="square" lIns="0" tIns="0" rIns="0" bIns="0" rtlCol="0" anchor="ctr"/>
          <a:lstStyle/>
          <a:p>
            <a:pPr indent="0" marL="0">
              <a:buNone/>
            </a:pPr>
            <a:r>
              <a:rPr lang="en-US" sz="1150" dirty="0">
                <a:solidFill>
                  <a:srgbClr val="E4F5F3"/>
                </a:solidFill>
                <a:latin typeface="Calibri" pitchFamily="34" charset="0"/>
                <a:ea typeface="Calibri" pitchFamily="34" charset="-122"/>
                <a:cs typeface="Calibri" pitchFamily="34" charset="-120"/>
              </a:rPr>
              <a:t>Same university  +5</a:t>
            </a:r>
            <a:endParaRPr lang="en-US" sz="1150" dirty="0"/>
          </a:p>
        </p:txBody>
      </p:sp>
      <p:sp>
        <p:nvSpPr>
          <p:cNvPr id="17" name="Text 13"/>
          <p:cNvSpPr txBox="1"/>
          <p:nvPr/>
        </p:nvSpPr>
        <p:spPr>
          <a:xfrm>
            <a:off x="8046720" y="5166360"/>
            <a:ext cx="3383280" cy="365760"/>
          </a:xfrm>
          <a:prstGeom prst="rect">
            <a:avLst/>
          </a:prstGeom>
          <a:noFill/>
          <a:ln/>
        </p:spPr>
        <p:txBody>
          <a:bodyPr wrap="square" lIns="0" tIns="0" rIns="0" bIns="0" rtlCol="0" anchor="ctr"/>
          <a:lstStyle/>
          <a:p>
            <a:pPr indent="0" marL="0">
              <a:buNone/>
            </a:pPr>
            <a:r>
              <a:rPr lang="en-US" sz="1050" i="1" dirty="0">
                <a:solidFill>
                  <a:srgbClr val="9FD3D0"/>
                </a:solidFill>
                <a:latin typeface="Calibri" pitchFamily="34" charset="0"/>
                <a:ea typeface="Calibri" pitchFamily="34" charset="-122"/>
                <a:cs typeface="Calibri" pitchFamily="34" charset="-120"/>
              </a:rPr>
              <a:t>Score capped at 100% -- shown to the student in full.</a:t>
            </a:r>
            <a:endParaRPr lang="en-US" sz="1050" dirty="0"/>
          </a:p>
        </p:txBody>
      </p:sp>
      <p:sp>
        <p:nvSpPr>
          <p:cNvPr id="18" name="Text 14"/>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19" name="Text 15"/>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TRUST &amp; SAFETY</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Built for students, verified as students</a:t>
            </a:r>
            <a:endParaRPr lang="en-US" sz="3200" dirty="0"/>
          </a:p>
        </p:txBody>
      </p:sp>
      <p:sp>
        <p:nvSpPr>
          <p:cNvPr id="4" name="Shape 2"/>
          <p:cNvSpPr/>
          <p:nvPr/>
        </p:nvSpPr>
        <p:spPr>
          <a:xfrm>
            <a:off x="548640" y="1874520"/>
            <a:ext cx="914400" cy="914400"/>
          </a:xfrm>
          <a:prstGeom prst="ellipse">
            <a:avLst/>
          </a:prstGeom>
          <a:solidFill>
            <a:srgbClr val="028090"/>
          </a:solidFill>
          <a:ln/>
        </p:spPr>
      </p:sp>
      <p:pic>
        <p:nvPicPr>
          <p:cNvPr id="5" name="Image 0" descr="/home/claude/pptx_build/icons/google-white.png">    </p:cNvPr>
          <p:cNvPicPr>
            <a:picLocks noChangeAspect="1"/>
          </p:cNvPicPr>
          <p:nvPr/>
        </p:nvPicPr>
        <p:blipFill>
          <a:blip r:embed="rId1"/>
          <a:stretch>
            <a:fillRect/>
          </a:stretch>
        </p:blipFill>
        <p:spPr>
          <a:xfrm>
            <a:off x="768096" y="2093976"/>
            <a:ext cx="475488" cy="475488"/>
          </a:xfrm>
          <a:prstGeom prst="rect">
            <a:avLst/>
          </a:prstGeom>
        </p:spPr>
      </p:pic>
      <p:sp>
        <p:nvSpPr>
          <p:cNvPr id="6" name="Text 3"/>
          <p:cNvSpPr txBox="1"/>
          <p:nvPr/>
        </p:nvSpPr>
        <p:spPr>
          <a:xfrm>
            <a:off x="1783080" y="1783080"/>
            <a:ext cx="9601200" cy="365760"/>
          </a:xfrm>
          <a:prstGeom prst="rect">
            <a:avLst/>
          </a:prstGeom>
          <a:noFill/>
          <a:ln/>
        </p:spPr>
        <p:txBody>
          <a:bodyPr wrap="square" lIns="0" tIns="0" rIns="0" bIns="0" rtlCol="0" anchor="ctr"/>
          <a:lstStyle/>
          <a:p>
            <a:pPr indent="0" marL="0">
              <a:buNone/>
            </a:pPr>
            <a:r>
              <a:rPr lang="en-US" sz="1800" b="1" dirty="0">
                <a:solidFill>
                  <a:srgbClr val="0B2B2E"/>
                </a:solidFill>
                <a:latin typeface="Cambria" pitchFamily="34" charset="0"/>
                <a:ea typeface="Cambria" pitchFamily="34" charset="-122"/>
                <a:cs typeface="Cambria" pitchFamily="34" charset="-120"/>
              </a:rPr>
              <a:t>University-gated sign-in</a:t>
            </a:r>
            <a:endParaRPr lang="en-US" sz="1800" dirty="0"/>
          </a:p>
        </p:txBody>
      </p:sp>
      <p:sp>
        <p:nvSpPr>
          <p:cNvPr id="7" name="Text 4"/>
          <p:cNvSpPr txBox="1"/>
          <p:nvPr/>
        </p:nvSpPr>
        <p:spPr>
          <a:xfrm>
            <a:off x="1783080" y="2194560"/>
            <a:ext cx="9692640" cy="822960"/>
          </a:xfrm>
          <a:prstGeom prst="rect">
            <a:avLst/>
          </a:prstGeom>
          <a:noFill/>
          <a:ln/>
        </p:spPr>
        <p:txBody>
          <a:bodyPr wrap="square" lIns="0" tIns="0" rIns="0" bIns="0" rtlCol="0" anchor="ctr"/>
          <a:lstStyle/>
          <a:p>
            <a:pPr indent="0" marL="0">
              <a:lnSpc>
                <a:spcPct val="125000"/>
              </a:lnSpc>
              <a:buNone/>
            </a:pPr>
            <a:r>
              <a:rPr lang="en-US" sz="1300" dirty="0">
                <a:solidFill>
                  <a:srgbClr val="5B7B7E"/>
                </a:solidFill>
                <a:latin typeface="Calibri" pitchFamily="34" charset="0"/>
                <a:ea typeface="Calibri" pitchFamily="34" charset="-122"/>
                <a:cs typeface="Calibri" pitchFamily="34" charset="-120"/>
              </a:rPr>
              <a:t>Google sign-in is verified server-side via Firebase Admin, and only lets in academic e-mail domains (.edu, .ac.uk, .edu.au, .ac.jp and more). Email/password registration is gated the same way.</a:t>
            </a:r>
            <a:endParaRPr lang="en-US" sz="1300" dirty="0"/>
          </a:p>
        </p:txBody>
      </p:sp>
      <p:sp>
        <p:nvSpPr>
          <p:cNvPr id="8" name="Shape 5"/>
          <p:cNvSpPr/>
          <p:nvPr/>
        </p:nvSpPr>
        <p:spPr>
          <a:xfrm>
            <a:off x="548640" y="3383280"/>
            <a:ext cx="914400" cy="914400"/>
          </a:xfrm>
          <a:prstGeom prst="ellipse">
            <a:avLst/>
          </a:prstGeom>
          <a:solidFill>
            <a:srgbClr val="028090"/>
          </a:solidFill>
          <a:ln/>
        </p:spPr>
      </p:sp>
      <p:pic>
        <p:nvPicPr>
          <p:cNvPr id="9" name="Image 1" descr="/home/claude/pptx_build/icons/camera-white.png">    </p:cNvPr>
          <p:cNvPicPr>
            <a:picLocks noChangeAspect="1"/>
          </p:cNvPicPr>
          <p:nvPr/>
        </p:nvPicPr>
        <p:blipFill>
          <a:blip r:embed="rId2"/>
          <a:stretch>
            <a:fillRect/>
          </a:stretch>
        </p:blipFill>
        <p:spPr>
          <a:xfrm>
            <a:off x="768096" y="3602736"/>
            <a:ext cx="475488" cy="475488"/>
          </a:xfrm>
          <a:prstGeom prst="rect">
            <a:avLst/>
          </a:prstGeom>
        </p:spPr>
      </p:pic>
      <p:sp>
        <p:nvSpPr>
          <p:cNvPr id="10" name="Text 6"/>
          <p:cNvSpPr txBox="1"/>
          <p:nvPr/>
        </p:nvSpPr>
        <p:spPr>
          <a:xfrm>
            <a:off x="1783080" y="3291840"/>
            <a:ext cx="9601200" cy="365760"/>
          </a:xfrm>
          <a:prstGeom prst="rect">
            <a:avLst/>
          </a:prstGeom>
          <a:noFill/>
          <a:ln/>
        </p:spPr>
        <p:txBody>
          <a:bodyPr wrap="square" lIns="0" tIns="0" rIns="0" bIns="0" rtlCol="0" anchor="ctr"/>
          <a:lstStyle/>
          <a:p>
            <a:pPr indent="0" marL="0">
              <a:buNone/>
            </a:pPr>
            <a:r>
              <a:rPr lang="en-US" sz="1800" b="1" dirty="0">
                <a:solidFill>
                  <a:srgbClr val="0B2B2E"/>
                </a:solidFill>
                <a:latin typeface="Cambria" pitchFamily="34" charset="0"/>
                <a:ea typeface="Cambria" pitchFamily="34" charset="-122"/>
                <a:cs typeface="Cambria" pitchFamily="34" charset="-120"/>
              </a:rPr>
              <a:t>Selfie verification</a:t>
            </a:r>
            <a:endParaRPr lang="en-US" sz="1800" dirty="0"/>
          </a:p>
        </p:txBody>
      </p:sp>
      <p:sp>
        <p:nvSpPr>
          <p:cNvPr id="11" name="Text 7"/>
          <p:cNvSpPr txBox="1"/>
          <p:nvPr/>
        </p:nvSpPr>
        <p:spPr>
          <a:xfrm>
            <a:off x="1783080" y="3703320"/>
            <a:ext cx="9692640" cy="822960"/>
          </a:xfrm>
          <a:prstGeom prst="rect">
            <a:avLst/>
          </a:prstGeom>
          <a:noFill/>
          <a:ln/>
        </p:spPr>
        <p:txBody>
          <a:bodyPr wrap="square" lIns="0" tIns="0" rIns="0" bIns="0" rtlCol="0" anchor="ctr"/>
          <a:lstStyle/>
          <a:p>
            <a:pPr indent="0" marL="0">
              <a:lnSpc>
                <a:spcPct val="125000"/>
              </a:lnSpc>
              <a:buNone/>
            </a:pPr>
            <a:r>
              <a:rPr lang="en-US" sz="1300" dirty="0">
                <a:solidFill>
                  <a:srgbClr val="5B7B7E"/>
                </a:solidFill>
                <a:latin typeface="Calibri" pitchFamily="34" charset="0"/>
                <a:ea typeface="Calibri" pitchFamily="34" charset="-122"/>
                <a:cs typeface="Calibri" pitchFamily="34" charset="-120"/>
              </a:rPr>
              <a:t>A live camera capture (with an upload fallback) is validated server-side -- magic-byte checked, size-capped -- and unlocks a blue verified tick next to the student's name.</a:t>
            </a:r>
            <a:endParaRPr lang="en-US" sz="1300" dirty="0"/>
          </a:p>
        </p:txBody>
      </p:sp>
      <p:sp>
        <p:nvSpPr>
          <p:cNvPr id="12" name="Shape 8"/>
          <p:cNvSpPr/>
          <p:nvPr/>
        </p:nvSpPr>
        <p:spPr>
          <a:xfrm>
            <a:off x="548640" y="4892040"/>
            <a:ext cx="914400" cy="914400"/>
          </a:xfrm>
          <a:prstGeom prst="ellipse">
            <a:avLst/>
          </a:prstGeom>
          <a:solidFill>
            <a:srgbClr val="028090"/>
          </a:solidFill>
          <a:ln/>
        </p:spPr>
      </p:sp>
      <p:pic>
        <p:nvPicPr>
          <p:cNvPr id="13" name="Image 2" descr="/home/claude/pptx_build/icons/star-white.png">    </p:cNvPr>
          <p:cNvPicPr>
            <a:picLocks noChangeAspect="1"/>
          </p:cNvPicPr>
          <p:nvPr/>
        </p:nvPicPr>
        <p:blipFill>
          <a:blip r:embed="rId3"/>
          <a:stretch>
            <a:fillRect/>
          </a:stretch>
        </p:blipFill>
        <p:spPr>
          <a:xfrm>
            <a:off x="768096" y="5111496"/>
            <a:ext cx="475488" cy="475488"/>
          </a:xfrm>
          <a:prstGeom prst="rect">
            <a:avLst/>
          </a:prstGeom>
        </p:spPr>
      </p:pic>
      <p:sp>
        <p:nvSpPr>
          <p:cNvPr id="14" name="Text 9"/>
          <p:cNvSpPr txBox="1"/>
          <p:nvPr/>
        </p:nvSpPr>
        <p:spPr>
          <a:xfrm>
            <a:off x="1783080" y="4800600"/>
            <a:ext cx="9601200" cy="365760"/>
          </a:xfrm>
          <a:prstGeom prst="rect">
            <a:avLst/>
          </a:prstGeom>
          <a:noFill/>
          <a:ln/>
        </p:spPr>
        <p:txBody>
          <a:bodyPr wrap="square" lIns="0" tIns="0" rIns="0" bIns="0" rtlCol="0" anchor="ctr"/>
          <a:lstStyle/>
          <a:p>
            <a:pPr indent="0" marL="0">
              <a:buNone/>
            </a:pPr>
            <a:r>
              <a:rPr lang="en-US" sz="1800" b="1" dirty="0">
                <a:solidFill>
                  <a:srgbClr val="0B2B2E"/>
                </a:solidFill>
                <a:latin typeface="Cambria" pitchFamily="34" charset="0"/>
                <a:ea typeface="Cambria" pitchFamily="34" charset="-122"/>
                <a:cs typeface="Cambria" pitchFamily="34" charset="-120"/>
              </a:rPr>
              <a:t>Two-way reviews</a:t>
            </a:r>
            <a:endParaRPr lang="en-US" sz="1800" dirty="0"/>
          </a:p>
        </p:txBody>
      </p:sp>
      <p:sp>
        <p:nvSpPr>
          <p:cNvPr id="15" name="Text 10"/>
          <p:cNvSpPr txBox="1"/>
          <p:nvPr/>
        </p:nvSpPr>
        <p:spPr>
          <a:xfrm>
            <a:off x="1783080" y="5212080"/>
            <a:ext cx="9692640" cy="822960"/>
          </a:xfrm>
          <a:prstGeom prst="rect">
            <a:avLst/>
          </a:prstGeom>
          <a:noFill/>
          <a:ln/>
        </p:spPr>
        <p:txBody>
          <a:bodyPr wrap="square" lIns="0" tIns="0" rIns="0" bIns="0" rtlCol="0" anchor="ctr"/>
          <a:lstStyle/>
          <a:p>
            <a:pPr indent="0" marL="0">
              <a:lnSpc>
                <a:spcPct val="125000"/>
              </a:lnSpc>
              <a:buNone/>
            </a:pPr>
            <a:r>
              <a:rPr lang="en-US" sz="1300" dirty="0">
                <a:solidFill>
                  <a:srgbClr val="5B7B7E"/>
                </a:solidFill>
                <a:latin typeface="Calibri" pitchFamily="34" charset="0"/>
                <a:ea typeface="Calibri" pitchFamily="34" charset="-122"/>
                <a:cs typeface="Calibri" pitchFamily="34" charset="-120"/>
              </a:rPr>
              <a:t>Every completed swap leaves a rating on both sides, building a visible trust history that makes the next swap with a stranger feel safe.</a:t>
            </a:r>
            <a:endParaRPr lang="en-US" sz="1300" dirty="0"/>
          </a:p>
        </p:txBody>
      </p:sp>
      <p:sp>
        <p:nvSpPr>
          <p:cNvPr id="16" name="Text 1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17" name="Text 12"/>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PRESENTATION &amp; DEMO</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What we'll show you live</a:t>
            </a:r>
            <a:endParaRPr lang="en-US" sz="3200" dirty="0"/>
          </a:p>
        </p:txBody>
      </p:sp>
      <p:sp>
        <p:nvSpPr>
          <p:cNvPr id="4" name="Shape 2"/>
          <p:cNvSpPr/>
          <p:nvPr/>
        </p:nvSpPr>
        <p:spPr>
          <a:xfrm>
            <a:off x="1051560" y="1920240"/>
            <a:ext cx="0" cy="3794760"/>
          </a:xfrm>
          <a:prstGeom prst="line">
            <a:avLst/>
          </a:prstGeom>
          <a:noFill/>
          <a:ln w="25400">
            <a:solidFill>
              <a:srgbClr val="D7E9E8"/>
            </a:solidFill>
            <a:prstDash val="solid"/>
          </a:ln>
        </p:spPr>
      </p:sp>
      <p:sp>
        <p:nvSpPr>
          <p:cNvPr id="5" name="Shape 3"/>
          <p:cNvSpPr/>
          <p:nvPr/>
        </p:nvSpPr>
        <p:spPr>
          <a:xfrm>
            <a:off x="822960" y="1691640"/>
            <a:ext cx="457200" cy="457200"/>
          </a:xfrm>
          <a:prstGeom prst="ellipse">
            <a:avLst/>
          </a:prstGeom>
          <a:solidFill>
            <a:srgbClr val="028090"/>
          </a:solidFill>
          <a:ln/>
        </p:spPr>
      </p:sp>
      <p:sp>
        <p:nvSpPr>
          <p:cNvPr id="6" name="Text 4"/>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600200" y="1618488"/>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Sign in as Maya — dashboard shows credits, a pending request, ranked matches</a:t>
            </a:r>
            <a:endParaRPr lang="en-US" sz="1450" dirty="0"/>
          </a:p>
        </p:txBody>
      </p:sp>
      <p:sp>
        <p:nvSpPr>
          <p:cNvPr id="8" name="Shape 6"/>
          <p:cNvSpPr/>
          <p:nvPr/>
        </p:nvSpPr>
        <p:spPr>
          <a:xfrm>
            <a:off x="822960" y="2450592"/>
            <a:ext cx="457200" cy="457200"/>
          </a:xfrm>
          <a:prstGeom prst="ellipse">
            <a:avLst/>
          </a:prstGeom>
          <a:solidFill>
            <a:srgbClr val="028090"/>
          </a:solidFill>
          <a:ln/>
        </p:spPr>
      </p:sp>
      <p:sp>
        <p:nvSpPr>
          <p:cNvPr id="9" name="Text 7"/>
          <p:cNvSpPr txBox="1"/>
          <p:nvPr/>
        </p:nvSpPr>
        <p:spPr>
          <a:xfrm>
            <a:off x="822960" y="24505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600200" y="2377440"/>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Discover — Alice Novak scores 100%; walk through the score breakdown</a:t>
            </a:r>
            <a:endParaRPr lang="en-US" sz="1450" dirty="0"/>
          </a:p>
        </p:txBody>
      </p:sp>
      <p:sp>
        <p:nvSpPr>
          <p:cNvPr id="11" name="Shape 9"/>
          <p:cNvSpPr/>
          <p:nvPr/>
        </p:nvSpPr>
        <p:spPr>
          <a:xfrm>
            <a:off x="822960" y="3209544"/>
            <a:ext cx="457200" cy="457200"/>
          </a:xfrm>
          <a:prstGeom prst="ellipse">
            <a:avLst/>
          </a:prstGeom>
          <a:solidFill>
            <a:srgbClr val="028090"/>
          </a:solidFill>
          <a:ln/>
        </p:spPr>
      </p:sp>
      <p:sp>
        <p:nvSpPr>
          <p:cNvPr id="12" name="Text 10"/>
          <p:cNvSpPr txBox="1"/>
          <p:nvPr/>
        </p:nvSpPr>
        <p:spPr>
          <a:xfrm>
            <a:off x="822960" y="32095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1600200" y="3136392"/>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Offer a swap — pre-filled proposal, sent in one click</a:t>
            </a:r>
            <a:endParaRPr lang="en-US" sz="1450" dirty="0"/>
          </a:p>
        </p:txBody>
      </p:sp>
      <p:sp>
        <p:nvSpPr>
          <p:cNvPr id="14" name="Shape 12"/>
          <p:cNvSpPr/>
          <p:nvPr/>
        </p:nvSpPr>
        <p:spPr>
          <a:xfrm>
            <a:off x="822960" y="3968496"/>
            <a:ext cx="457200" cy="457200"/>
          </a:xfrm>
          <a:prstGeom prst="ellipse">
            <a:avLst/>
          </a:prstGeom>
          <a:solidFill>
            <a:srgbClr val="028090"/>
          </a:solidFill>
          <a:ln/>
        </p:spPr>
      </p:sp>
      <p:sp>
        <p:nvSpPr>
          <p:cNvPr id="15" name="Text 13"/>
          <p:cNvSpPr txBox="1"/>
          <p:nvPr/>
        </p:nvSpPr>
        <p:spPr>
          <a:xfrm>
            <a:off x="822960" y="39684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4"/>
          <p:cNvSpPr txBox="1"/>
          <p:nvPr/>
        </p:nvSpPr>
        <p:spPr>
          <a:xfrm>
            <a:off x="1600200" y="3895344"/>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Accept → Complete — both sides earn 10 skill credits</a:t>
            </a:r>
            <a:endParaRPr lang="en-US" sz="1450" dirty="0"/>
          </a:p>
        </p:txBody>
      </p:sp>
      <p:sp>
        <p:nvSpPr>
          <p:cNvPr id="17" name="Shape 15"/>
          <p:cNvSpPr/>
          <p:nvPr/>
        </p:nvSpPr>
        <p:spPr>
          <a:xfrm>
            <a:off x="822960" y="4727448"/>
            <a:ext cx="457200" cy="457200"/>
          </a:xfrm>
          <a:prstGeom prst="ellipse">
            <a:avLst/>
          </a:prstGeom>
          <a:solidFill>
            <a:srgbClr val="028090"/>
          </a:solidFill>
          <a:ln/>
        </p:spPr>
      </p:sp>
      <p:sp>
        <p:nvSpPr>
          <p:cNvPr id="18" name="Text 16"/>
          <p:cNvSpPr txBox="1"/>
          <p:nvPr/>
        </p:nvSpPr>
        <p:spPr>
          <a:xfrm>
            <a:off x="822960" y="47274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9" name="Text 17"/>
          <p:cNvSpPr txBox="1"/>
          <p:nvPr/>
        </p:nvSpPr>
        <p:spPr>
          <a:xfrm>
            <a:off x="1600200" y="4654296"/>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Leave a review — 5 stars, trust tag updates instantly</a:t>
            </a:r>
            <a:endParaRPr lang="en-US" sz="1450" dirty="0"/>
          </a:p>
        </p:txBody>
      </p:sp>
      <p:sp>
        <p:nvSpPr>
          <p:cNvPr id="20" name="Shape 18"/>
          <p:cNvSpPr/>
          <p:nvPr/>
        </p:nvSpPr>
        <p:spPr>
          <a:xfrm>
            <a:off x="822960" y="5486400"/>
            <a:ext cx="457200" cy="457200"/>
          </a:xfrm>
          <a:prstGeom prst="ellipse">
            <a:avLst/>
          </a:prstGeom>
          <a:solidFill>
            <a:srgbClr val="02C39A"/>
          </a:solidFill>
          <a:ln/>
        </p:spPr>
      </p:sp>
      <p:sp>
        <p:nvSpPr>
          <p:cNvPr id="21" name="Text 19"/>
          <p:cNvSpPr txBox="1"/>
          <p:nvPr/>
        </p:nvSpPr>
        <p:spPr>
          <a:xfrm>
            <a:off x="822960" y="5486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2" name="Text 20"/>
          <p:cNvSpPr txBox="1"/>
          <p:nvPr/>
        </p:nvSpPr>
        <p:spPr>
          <a:xfrm>
            <a:off x="1600200" y="5413248"/>
            <a:ext cx="9875520" cy="594360"/>
          </a:xfrm>
          <a:prstGeom prst="rect">
            <a:avLst/>
          </a:prstGeom>
          <a:noFill/>
          <a:ln/>
        </p:spPr>
        <p:txBody>
          <a:bodyPr wrap="square" lIns="0" tIns="0" rIns="0" bIns="0" rtlCol="0" anchor="ctr"/>
          <a:lstStyle/>
          <a:p>
            <a:pPr indent="0" marL="0">
              <a:buNone/>
            </a:pPr>
            <a:r>
              <a:rPr lang="en-US" sz="1450" dirty="0">
                <a:solidFill>
                  <a:srgbClr val="0B2B2E"/>
                </a:solidFill>
                <a:latin typeface="Calibri" pitchFamily="34" charset="0"/>
                <a:ea typeface="Calibri" pitchFamily="34" charset="-122"/>
                <a:cs typeface="Calibri" pitchFamily="34" charset="-120"/>
              </a:rPr>
              <a:t>Verify with a selfie — the blue tick appears on the spot</a:t>
            </a:r>
            <a:endParaRPr lang="en-US" sz="1450" dirty="0"/>
          </a:p>
        </p:txBody>
      </p:sp>
      <p:sp>
        <p:nvSpPr>
          <p:cNvPr id="23" name="Text 21"/>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24" name="Text 22"/>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TECHNICAL IMPLEMENTATION</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Built to run anywhere, zero setup friction</a:t>
            </a:r>
            <a:endParaRPr lang="en-US" sz="3200" dirty="0"/>
          </a:p>
        </p:txBody>
      </p:sp>
      <p:sp>
        <p:nvSpPr>
          <p:cNvPr id="4" name="Shape 2"/>
          <p:cNvSpPr/>
          <p:nvPr/>
        </p:nvSpPr>
        <p:spPr>
          <a:xfrm>
            <a:off x="640080" y="1874520"/>
            <a:ext cx="2651760" cy="1737360"/>
          </a:xfrm>
          <a:prstGeom prst="roundRect">
            <a:avLst>
              <a:gd name="adj" fmla="val 6316"/>
            </a:avLst>
          </a:prstGeom>
          <a:solidFill>
            <a:srgbClr val="013A40"/>
          </a:solidFill>
          <a:ln/>
        </p:spPr>
      </p:sp>
      <p:sp>
        <p:nvSpPr>
          <p:cNvPr id="5" name="Shape 3"/>
          <p:cNvSpPr/>
          <p:nvPr/>
        </p:nvSpPr>
        <p:spPr>
          <a:xfrm>
            <a:off x="1600200" y="2130552"/>
            <a:ext cx="731520" cy="731520"/>
          </a:xfrm>
          <a:prstGeom prst="ellipse">
            <a:avLst/>
          </a:prstGeom>
          <a:solidFill>
            <a:srgbClr val="00A896"/>
          </a:solidFill>
          <a:ln/>
        </p:spPr>
      </p:sp>
      <p:pic>
        <p:nvPicPr>
          <p:cNvPr id="6" name="Image 0" descr="/home/claude/pptx_build/icons/laptop-white.png">    </p:cNvPr>
          <p:cNvPicPr>
            <a:picLocks noChangeAspect="1"/>
          </p:cNvPicPr>
          <p:nvPr/>
        </p:nvPicPr>
        <p:blipFill>
          <a:blip r:embed="rId1"/>
          <a:stretch>
            <a:fillRect/>
          </a:stretch>
        </p:blipFill>
        <p:spPr>
          <a:xfrm>
            <a:off x="1783080" y="2313432"/>
            <a:ext cx="365760" cy="365760"/>
          </a:xfrm>
          <a:prstGeom prst="rect">
            <a:avLst/>
          </a:prstGeom>
        </p:spPr>
      </p:pic>
      <p:sp>
        <p:nvSpPr>
          <p:cNvPr id="7" name="Text 4"/>
          <p:cNvSpPr txBox="1"/>
          <p:nvPr/>
        </p:nvSpPr>
        <p:spPr>
          <a:xfrm>
            <a:off x="640080" y="2926080"/>
            <a:ext cx="26517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Client</a:t>
            </a:r>
            <a:endParaRPr lang="en-US" sz="1600" dirty="0"/>
          </a:p>
        </p:txBody>
      </p:sp>
      <p:sp>
        <p:nvSpPr>
          <p:cNvPr id="8" name="Text 5"/>
          <p:cNvSpPr txBox="1"/>
          <p:nvPr/>
        </p:nvSpPr>
        <p:spPr>
          <a:xfrm>
            <a:off x="640080" y="3246120"/>
            <a:ext cx="2651760" cy="320040"/>
          </a:xfrm>
          <a:prstGeom prst="rect">
            <a:avLst/>
          </a:prstGeom>
          <a:noFill/>
          <a:ln/>
        </p:spPr>
        <p:txBody>
          <a:bodyPr wrap="square" lIns="0" tIns="0" rIns="0" bIns="0" rtlCol="0" anchor="ctr"/>
          <a:lstStyle/>
          <a:p>
            <a:pPr algn="ctr" indent="0" marL="0">
              <a:buNone/>
            </a:pPr>
            <a:r>
              <a:rPr lang="en-US" sz="1150" dirty="0">
                <a:solidFill>
                  <a:srgbClr val="CFE8E8"/>
                </a:solidFill>
                <a:latin typeface="Calibri" pitchFamily="34" charset="0"/>
                <a:ea typeface="Calibri" pitchFamily="34" charset="-122"/>
                <a:cs typeface="Calibri" pitchFamily="34" charset="-120"/>
              </a:rPr>
              <a:t>React + Vite</a:t>
            </a:r>
            <a:endParaRPr lang="en-US" sz="1150" dirty="0"/>
          </a:p>
        </p:txBody>
      </p:sp>
      <p:sp>
        <p:nvSpPr>
          <p:cNvPr id="9" name="Text 6"/>
          <p:cNvSpPr txBox="1"/>
          <p:nvPr/>
        </p:nvSpPr>
        <p:spPr>
          <a:xfrm>
            <a:off x="3291840" y="2468880"/>
            <a:ext cx="777240" cy="54864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a:t>
            </a:r>
            <a:endParaRPr lang="en-US" sz="2600" dirty="0"/>
          </a:p>
        </p:txBody>
      </p:sp>
      <p:sp>
        <p:nvSpPr>
          <p:cNvPr id="10" name="Shape 7"/>
          <p:cNvSpPr/>
          <p:nvPr/>
        </p:nvSpPr>
        <p:spPr>
          <a:xfrm>
            <a:off x="4069080" y="1874520"/>
            <a:ext cx="2651760" cy="1737360"/>
          </a:xfrm>
          <a:prstGeom prst="roundRect">
            <a:avLst>
              <a:gd name="adj" fmla="val 6316"/>
            </a:avLst>
          </a:prstGeom>
          <a:solidFill>
            <a:srgbClr val="013A40"/>
          </a:solidFill>
          <a:ln/>
        </p:spPr>
      </p:sp>
      <p:sp>
        <p:nvSpPr>
          <p:cNvPr id="11" name="Shape 8"/>
          <p:cNvSpPr/>
          <p:nvPr/>
        </p:nvSpPr>
        <p:spPr>
          <a:xfrm>
            <a:off x="5029200" y="2130552"/>
            <a:ext cx="731520" cy="731520"/>
          </a:xfrm>
          <a:prstGeom prst="ellipse">
            <a:avLst/>
          </a:prstGeom>
          <a:solidFill>
            <a:srgbClr val="00A896"/>
          </a:solidFill>
          <a:ln/>
        </p:spPr>
      </p:sp>
      <p:pic>
        <p:nvPicPr>
          <p:cNvPr id="12" name="Image 1" descr="/home/claude/pptx_build/icons/server-white.png">    </p:cNvPr>
          <p:cNvPicPr>
            <a:picLocks noChangeAspect="1"/>
          </p:cNvPicPr>
          <p:nvPr/>
        </p:nvPicPr>
        <p:blipFill>
          <a:blip r:embed="rId2"/>
          <a:stretch>
            <a:fillRect/>
          </a:stretch>
        </p:blipFill>
        <p:spPr>
          <a:xfrm>
            <a:off x="5212080" y="2313432"/>
            <a:ext cx="365760" cy="365760"/>
          </a:xfrm>
          <a:prstGeom prst="rect">
            <a:avLst/>
          </a:prstGeom>
        </p:spPr>
      </p:pic>
      <p:sp>
        <p:nvSpPr>
          <p:cNvPr id="13" name="Text 9"/>
          <p:cNvSpPr txBox="1"/>
          <p:nvPr/>
        </p:nvSpPr>
        <p:spPr>
          <a:xfrm>
            <a:off x="4069080" y="2926080"/>
            <a:ext cx="26517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API</a:t>
            </a:r>
            <a:endParaRPr lang="en-US" sz="1600" dirty="0"/>
          </a:p>
        </p:txBody>
      </p:sp>
      <p:sp>
        <p:nvSpPr>
          <p:cNvPr id="14" name="Text 10"/>
          <p:cNvSpPr txBox="1"/>
          <p:nvPr/>
        </p:nvSpPr>
        <p:spPr>
          <a:xfrm>
            <a:off x="4069080" y="3246120"/>
            <a:ext cx="2651760" cy="320040"/>
          </a:xfrm>
          <a:prstGeom prst="rect">
            <a:avLst/>
          </a:prstGeom>
          <a:noFill/>
          <a:ln/>
        </p:spPr>
        <p:txBody>
          <a:bodyPr wrap="square" lIns="0" tIns="0" rIns="0" bIns="0" rtlCol="0" anchor="ctr"/>
          <a:lstStyle/>
          <a:p>
            <a:pPr algn="ctr" indent="0" marL="0">
              <a:buNone/>
            </a:pPr>
            <a:r>
              <a:rPr lang="en-US" sz="1150" dirty="0">
                <a:solidFill>
                  <a:srgbClr val="CFE8E8"/>
                </a:solidFill>
                <a:latin typeface="Calibri" pitchFamily="34" charset="0"/>
                <a:ea typeface="Calibri" pitchFamily="34" charset="-122"/>
                <a:cs typeface="Calibri" pitchFamily="34" charset="-120"/>
              </a:rPr>
              <a:t>Express, session auth</a:t>
            </a:r>
            <a:endParaRPr lang="en-US" sz="1150" dirty="0"/>
          </a:p>
        </p:txBody>
      </p:sp>
      <p:sp>
        <p:nvSpPr>
          <p:cNvPr id="15" name="Text 11"/>
          <p:cNvSpPr txBox="1"/>
          <p:nvPr/>
        </p:nvSpPr>
        <p:spPr>
          <a:xfrm>
            <a:off x="6720840" y="2468880"/>
            <a:ext cx="777240" cy="548640"/>
          </a:xfrm>
          <a:prstGeom prst="rect">
            <a:avLst/>
          </a:prstGeom>
          <a:noFill/>
          <a:ln/>
        </p:spPr>
        <p:txBody>
          <a:bodyPr wrap="square" lIns="0" tIns="0" rIns="0" bIns="0" rtlCol="0" anchor="ctr"/>
          <a:lstStyle/>
          <a:p>
            <a:pPr algn="ctr" indent="0" marL="0">
              <a:buNone/>
            </a:pPr>
            <a:r>
              <a:rPr lang="en-US" sz="2600" b="1" dirty="0">
                <a:solidFill>
                  <a:srgbClr val="00A896"/>
                </a:solidFill>
                <a:latin typeface="Cambria" pitchFamily="34" charset="0"/>
                <a:ea typeface="Cambria" pitchFamily="34" charset="-122"/>
                <a:cs typeface="Cambria" pitchFamily="34" charset="-120"/>
              </a:rPr>
              <a:t>→</a:t>
            </a:r>
            <a:endParaRPr lang="en-US" sz="2600" dirty="0"/>
          </a:p>
        </p:txBody>
      </p:sp>
      <p:sp>
        <p:nvSpPr>
          <p:cNvPr id="16" name="Shape 12"/>
          <p:cNvSpPr/>
          <p:nvPr/>
        </p:nvSpPr>
        <p:spPr>
          <a:xfrm>
            <a:off x="7498080" y="1874520"/>
            <a:ext cx="2651760" cy="1737360"/>
          </a:xfrm>
          <a:prstGeom prst="roundRect">
            <a:avLst>
              <a:gd name="adj" fmla="val 6316"/>
            </a:avLst>
          </a:prstGeom>
          <a:solidFill>
            <a:srgbClr val="013A40"/>
          </a:solidFill>
          <a:ln/>
        </p:spPr>
      </p:sp>
      <p:sp>
        <p:nvSpPr>
          <p:cNvPr id="17" name="Shape 13"/>
          <p:cNvSpPr/>
          <p:nvPr/>
        </p:nvSpPr>
        <p:spPr>
          <a:xfrm>
            <a:off x="8458200" y="2130552"/>
            <a:ext cx="731520" cy="731520"/>
          </a:xfrm>
          <a:prstGeom prst="ellipse">
            <a:avLst/>
          </a:prstGeom>
          <a:solidFill>
            <a:srgbClr val="00A896"/>
          </a:solidFill>
          <a:ln/>
        </p:spPr>
      </p:sp>
      <p:pic>
        <p:nvPicPr>
          <p:cNvPr id="18" name="Image 2" descr="/home/claude/pptx_build/icons/database-white.png">    </p:cNvPr>
          <p:cNvPicPr>
            <a:picLocks noChangeAspect="1"/>
          </p:cNvPicPr>
          <p:nvPr/>
        </p:nvPicPr>
        <p:blipFill>
          <a:blip r:embed="rId3"/>
          <a:stretch>
            <a:fillRect/>
          </a:stretch>
        </p:blipFill>
        <p:spPr>
          <a:xfrm>
            <a:off x="8641080" y="2313432"/>
            <a:ext cx="365760" cy="365760"/>
          </a:xfrm>
          <a:prstGeom prst="rect">
            <a:avLst/>
          </a:prstGeom>
        </p:spPr>
      </p:pic>
      <p:sp>
        <p:nvSpPr>
          <p:cNvPr id="19" name="Text 14"/>
          <p:cNvSpPr txBox="1"/>
          <p:nvPr/>
        </p:nvSpPr>
        <p:spPr>
          <a:xfrm>
            <a:off x="7498080" y="2926080"/>
            <a:ext cx="26517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Database</a:t>
            </a:r>
            <a:endParaRPr lang="en-US" sz="1600" dirty="0"/>
          </a:p>
        </p:txBody>
      </p:sp>
      <p:sp>
        <p:nvSpPr>
          <p:cNvPr id="20" name="Text 15"/>
          <p:cNvSpPr txBox="1"/>
          <p:nvPr/>
        </p:nvSpPr>
        <p:spPr>
          <a:xfrm>
            <a:off x="7498080" y="3246120"/>
            <a:ext cx="2651760" cy="320040"/>
          </a:xfrm>
          <a:prstGeom prst="rect">
            <a:avLst/>
          </a:prstGeom>
          <a:noFill/>
          <a:ln/>
        </p:spPr>
        <p:txBody>
          <a:bodyPr wrap="square" lIns="0" tIns="0" rIns="0" bIns="0" rtlCol="0" anchor="ctr"/>
          <a:lstStyle/>
          <a:p>
            <a:pPr algn="ctr" indent="0" marL="0">
              <a:buNone/>
            </a:pPr>
            <a:r>
              <a:rPr lang="en-US" sz="1150" dirty="0">
                <a:solidFill>
                  <a:srgbClr val="CFE8E8"/>
                </a:solidFill>
                <a:latin typeface="Calibri" pitchFamily="34" charset="0"/>
                <a:ea typeface="Calibri" pitchFamily="34" charset="-122"/>
                <a:cs typeface="Calibri" pitchFamily="34" charset="-120"/>
              </a:rPr>
              <a:t>SQLite (node:sqlite)</a:t>
            </a:r>
            <a:endParaRPr lang="en-US" sz="1150" dirty="0"/>
          </a:p>
        </p:txBody>
      </p:sp>
      <p:sp>
        <p:nvSpPr>
          <p:cNvPr id="21" name="Shape 16"/>
          <p:cNvSpPr/>
          <p:nvPr/>
        </p:nvSpPr>
        <p:spPr>
          <a:xfrm>
            <a:off x="4023360" y="4114800"/>
            <a:ext cx="2743200" cy="868680"/>
          </a:xfrm>
          <a:prstGeom prst="roundRect">
            <a:avLst>
              <a:gd name="adj" fmla="val 10526"/>
            </a:avLst>
          </a:prstGeom>
          <a:solidFill>
            <a:srgbClr val="EEF6F6"/>
          </a:solidFill>
          <a:ln w="12700">
            <a:solidFill>
              <a:srgbClr val="028090"/>
            </a:solidFill>
            <a:prstDash val="solid"/>
          </a:ln>
        </p:spPr>
      </p:sp>
      <p:sp>
        <p:nvSpPr>
          <p:cNvPr id="22" name="Text 17"/>
          <p:cNvSpPr txBox="1"/>
          <p:nvPr/>
        </p:nvSpPr>
        <p:spPr>
          <a:xfrm>
            <a:off x="4023360" y="4206240"/>
            <a:ext cx="2743200" cy="292608"/>
          </a:xfrm>
          <a:prstGeom prst="rect">
            <a:avLst/>
          </a:prstGeom>
          <a:noFill/>
          <a:ln/>
        </p:spPr>
        <p:txBody>
          <a:bodyPr wrap="square" lIns="0" tIns="0" rIns="0" bIns="0" rtlCol="0" anchor="ctr"/>
          <a:lstStyle/>
          <a:p>
            <a:pPr algn="ctr" indent="0" marL="0">
              <a:buNone/>
            </a:pPr>
            <a:r>
              <a:rPr lang="en-US" sz="1300" b="1" dirty="0">
                <a:solidFill>
                  <a:srgbClr val="028090"/>
                </a:solidFill>
                <a:latin typeface="Cambria" pitchFamily="34" charset="0"/>
                <a:ea typeface="Cambria" pitchFamily="34" charset="-122"/>
                <a:cs typeface="Cambria" pitchFamily="34" charset="-120"/>
              </a:rPr>
              <a:t>Firebase Admin</a:t>
            </a:r>
            <a:endParaRPr lang="en-US" sz="1300" dirty="0"/>
          </a:p>
        </p:txBody>
      </p:sp>
      <p:sp>
        <p:nvSpPr>
          <p:cNvPr id="23" name="Text 18"/>
          <p:cNvSpPr txBox="1"/>
          <p:nvPr/>
        </p:nvSpPr>
        <p:spPr>
          <a:xfrm>
            <a:off x="4023360" y="4498848"/>
            <a:ext cx="2743200" cy="457200"/>
          </a:xfrm>
          <a:prstGeom prst="rect">
            <a:avLst/>
          </a:prstGeom>
          <a:noFill/>
          <a:ln/>
        </p:spPr>
        <p:txBody>
          <a:bodyPr wrap="square" lIns="0" tIns="0" rIns="0" bIns="0" rtlCol="0" anchor="ctr"/>
          <a:lstStyle/>
          <a:p>
            <a:pPr algn="ctr" indent="0" marL="0">
              <a:lnSpc>
                <a:spcPct val="110000"/>
              </a:lnSpc>
              <a:buNone/>
            </a:pPr>
            <a:r>
              <a:rPr lang="en-US" sz="1050" dirty="0">
                <a:solidFill>
                  <a:srgbClr val="5B7B7E"/>
                </a:solidFill>
                <a:latin typeface="Calibri" pitchFamily="34" charset="0"/>
                <a:ea typeface="Calibri" pitchFamily="34" charset="-122"/>
                <a:cs typeface="Calibri" pitchFamily="34" charset="-120"/>
              </a:rPr>
              <a:t>verifies Google ID tokens</a:t>
            </a:r>
            <a:endParaRPr lang="en-US" sz="1050" dirty="0"/>
          </a:p>
          <a:p>
            <a:pPr algn="ctr" indent="0" marL="0">
              <a:lnSpc>
                <a:spcPct val="110000"/>
              </a:lnSpc>
              <a:buNone/>
            </a:pPr>
            <a:r>
              <a:rPr lang="en-US" sz="1050" dirty="0">
                <a:solidFill>
                  <a:srgbClr val="5B7B7E"/>
                </a:solidFill>
                <a:latin typeface="Calibri" pitchFamily="34" charset="0"/>
                <a:ea typeface="Calibri" pitchFamily="34" charset="-122"/>
                <a:cs typeface="Calibri" pitchFamily="34" charset="-120"/>
              </a:rPr>
              <a:t>+ university e-mail gate</a:t>
            </a:r>
            <a:endParaRPr lang="en-US" sz="1050" dirty="0"/>
          </a:p>
        </p:txBody>
      </p:sp>
      <p:sp>
        <p:nvSpPr>
          <p:cNvPr id="24" name="Shape 19"/>
          <p:cNvSpPr/>
          <p:nvPr/>
        </p:nvSpPr>
        <p:spPr>
          <a:xfrm>
            <a:off x="5394960" y="3611880"/>
            <a:ext cx="0" cy="502920"/>
          </a:xfrm>
          <a:prstGeom prst="line">
            <a:avLst/>
          </a:prstGeom>
          <a:noFill/>
          <a:ln w="19050">
            <a:solidFill>
              <a:srgbClr val="028090"/>
            </a:solidFill>
            <a:prstDash val="dash"/>
          </a:ln>
        </p:spPr>
      </p:sp>
      <p:sp>
        <p:nvSpPr>
          <p:cNvPr id="25" name="Shape 20"/>
          <p:cNvSpPr/>
          <p:nvPr/>
        </p:nvSpPr>
        <p:spPr>
          <a:xfrm>
            <a:off x="457200" y="5257800"/>
            <a:ext cx="3520440" cy="1097280"/>
          </a:xfrm>
          <a:prstGeom prst="roundRect">
            <a:avLst>
              <a:gd name="adj" fmla="val 8333"/>
            </a:avLst>
          </a:prstGeom>
          <a:solidFill>
            <a:srgbClr val="EEF6F6"/>
          </a:solidFill>
          <a:ln/>
        </p:spPr>
      </p:sp>
      <p:sp>
        <p:nvSpPr>
          <p:cNvPr id="26" name="Text 21"/>
          <p:cNvSpPr txBox="1"/>
          <p:nvPr/>
        </p:nvSpPr>
        <p:spPr>
          <a:xfrm>
            <a:off x="658368" y="5367528"/>
            <a:ext cx="3118104" cy="877824"/>
          </a:xfrm>
          <a:prstGeom prst="rect">
            <a:avLst/>
          </a:prstGeom>
          <a:noFill/>
          <a:ln/>
        </p:spPr>
        <p:txBody>
          <a:bodyPr wrap="square" lIns="0" tIns="0" rIns="0" bIns="0" rtlCol="0" anchor="t"/>
          <a:lstStyle/>
          <a:p>
            <a:pPr indent="0" marL="0">
              <a:lnSpc>
                <a:spcPct val="115000"/>
              </a:lnSpc>
              <a:buNone/>
            </a:pPr>
            <a:r>
              <a:rPr lang="en-US" sz="1150" dirty="0">
                <a:solidFill>
                  <a:srgbClr val="0B2B2E"/>
                </a:solidFill>
                <a:latin typeface="Calibri" pitchFamily="34" charset="0"/>
                <a:ea typeface="Calibri" pitchFamily="34" charset="-122"/>
                <a:cs typeface="Calibri" pitchFamily="34" charset="-120"/>
              </a:rPr>
              <a:t>Zero native dependencies -- Node's built-in node:sqlite means nothing to compile</a:t>
            </a:r>
            <a:endParaRPr lang="en-US" sz="1150" dirty="0"/>
          </a:p>
        </p:txBody>
      </p:sp>
      <p:sp>
        <p:nvSpPr>
          <p:cNvPr id="27" name="Shape 22"/>
          <p:cNvSpPr/>
          <p:nvPr/>
        </p:nvSpPr>
        <p:spPr>
          <a:xfrm>
            <a:off x="4251960" y="5257800"/>
            <a:ext cx="3520440" cy="1097280"/>
          </a:xfrm>
          <a:prstGeom prst="roundRect">
            <a:avLst>
              <a:gd name="adj" fmla="val 8333"/>
            </a:avLst>
          </a:prstGeom>
          <a:solidFill>
            <a:srgbClr val="EEF6F6"/>
          </a:solidFill>
          <a:ln/>
        </p:spPr>
      </p:sp>
      <p:sp>
        <p:nvSpPr>
          <p:cNvPr id="28" name="Text 23"/>
          <p:cNvSpPr txBox="1"/>
          <p:nvPr/>
        </p:nvSpPr>
        <p:spPr>
          <a:xfrm>
            <a:off x="4453128" y="5367528"/>
            <a:ext cx="3118104" cy="877824"/>
          </a:xfrm>
          <a:prstGeom prst="rect">
            <a:avLst/>
          </a:prstGeom>
          <a:noFill/>
          <a:ln/>
        </p:spPr>
        <p:txBody>
          <a:bodyPr wrap="square" lIns="0" tIns="0" rIns="0" bIns="0" rtlCol="0" anchor="t"/>
          <a:lstStyle/>
          <a:p>
            <a:pPr indent="0" marL="0">
              <a:lnSpc>
                <a:spcPct val="115000"/>
              </a:lnSpc>
              <a:buNone/>
            </a:pPr>
            <a:r>
              <a:rPr lang="en-US" sz="1150" dirty="0">
                <a:solidFill>
                  <a:srgbClr val="0B2B2E"/>
                </a:solidFill>
                <a:latin typeface="Calibri" pitchFamily="34" charset="0"/>
                <a:ea typeface="Calibri" pitchFamily="34" charset="-122"/>
                <a:cs typeface="Calibri" pitchFamily="34" charset="-120"/>
              </a:rPr>
              <a:t>Auto-seeded on first run -- clone, install, and demo data is already there</a:t>
            </a:r>
            <a:endParaRPr lang="en-US" sz="1150" dirty="0"/>
          </a:p>
        </p:txBody>
      </p:sp>
      <p:sp>
        <p:nvSpPr>
          <p:cNvPr id="29" name="Shape 24"/>
          <p:cNvSpPr/>
          <p:nvPr/>
        </p:nvSpPr>
        <p:spPr>
          <a:xfrm>
            <a:off x="8046720" y="5257800"/>
            <a:ext cx="3520440" cy="1097280"/>
          </a:xfrm>
          <a:prstGeom prst="roundRect">
            <a:avLst>
              <a:gd name="adj" fmla="val 8333"/>
            </a:avLst>
          </a:prstGeom>
          <a:solidFill>
            <a:srgbClr val="EEF6F6"/>
          </a:solidFill>
          <a:ln/>
        </p:spPr>
      </p:sp>
      <p:sp>
        <p:nvSpPr>
          <p:cNvPr id="30" name="Text 25"/>
          <p:cNvSpPr txBox="1"/>
          <p:nvPr/>
        </p:nvSpPr>
        <p:spPr>
          <a:xfrm>
            <a:off x="8247888" y="5367528"/>
            <a:ext cx="3118104" cy="877824"/>
          </a:xfrm>
          <a:prstGeom prst="rect">
            <a:avLst/>
          </a:prstGeom>
          <a:noFill/>
          <a:ln/>
        </p:spPr>
        <p:txBody>
          <a:bodyPr wrap="square" lIns="0" tIns="0" rIns="0" bIns="0" rtlCol="0" anchor="t"/>
          <a:lstStyle/>
          <a:p>
            <a:pPr indent="0" marL="0">
              <a:lnSpc>
                <a:spcPct val="115000"/>
              </a:lnSpc>
              <a:buNone/>
            </a:pPr>
            <a:r>
              <a:rPr lang="en-US" sz="1150" dirty="0">
                <a:solidFill>
                  <a:srgbClr val="0B2B2E"/>
                </a:solidFill>
                <a:latin typeface="Calibri" pitchFamily="34" charset="0"/>
                <a:ea typeface="Calibri" pitchFamily="34" charset="-122"/>
                <a:cs typeface="Calibri" pitchFamily="34" charset="-120"/>
              </a:rPr>
              <a:t>Single-port production build -- client + API ship from one process for the hackathon stage</a:t>
            </a:r>
            <a:endParaRPr lang="en-US" sz="1150" dirty="0"/>
          </a:p>
        </p:txBody>
      </p:sp>
      <p:sp>
        <p:nvSpPr>
          <p:cNvPr id="31" name="Text 26"/>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32" name="Text 27"/>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TECHNICAL IMPLEMENTATION</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Engineered to survive a live demo</a:t>
            </a:r>
            <a:endParaRPr lang="en-US" sz="3200" dirty="0"/>
          </a:p>
        </p:txBody>
      </p:sp>
      <p:sp>
        <p:nvSpPr>
          <p:cNvPr id="4" name="Shape 2"/>
          <p:cNvSpPr/>
          <p:nvPr/>
        </p:nvSpPr>
        <p:spPr>
          <a:xfrm>
            <a:off x="457200" y="1783080"/>
            <a:ext cx="5349240" cy="1965960"/>
          </a:xfrm>
          <a:prstGeom prst="roundRect">
            <a:avLst>
              <a:gd name="adj" fmla="val 5581"/>
            </a:avLst>
          </a:prstGeom>
          <a:solidFill>
            <a:srgbClr val="EEF6F6"/>
          </a:solidFill>
          <a:ln/>
        </p:spPr>
      </p:sp>
      <p:sp>
        <p:nvSpPr>
          <p:cNvPr id="5" name="Shape 3"/>
          <p:cNvSpPr/>
          <p:nvPr/>
        </p:nvSpPr>
        <p:spPr>
          <a:xfrm>
            <a:off x="731520" y="2057400"/>
            <a:ext cx="777240" cy="777240"/>
          </a:xfrm>
          <a:prstGeom prst="ellipse">
            <a:avLst/>
          </a:prstGeom>
          <a:solidFill>
            <a:srgbClr val="028090"/>
          </a:solidFill>
          <a:ln/>
        </p:spPr>
      </p:sp>
      <p:pic>
        <p:nvPicPr>
          <p:cNvPr id="6" name="Image 0" descr="/home/claude/pptx_build/icons/check-white.png">    </p:cNvPr>
          <p:cNvPicPr>
            <a:picLocks noChangeAspect="1"/>
          </p:cNvPicPr>
          <p:nvPr/>
        </p:nvPicPr>
        <p:blipFill>
          <a:blip r:embed="rId1"/>
          <a:stretch>
            <a:fillRect/>
          </a:stretch>
        </p:blipFill>
        <p:spPr>
          <a:xfrm>
            <a:off x="925830" y="2251710"/>
            <a:ext cx="388620" cy="388620"/>
          </a:xfrm>
          <a:prstGeom prst="rect">
            <a:avLst/>
          </a:prstGeom>
        </p:spPr>
      </p:pic>
      <p:sp>
        <p:nvSpPr>
          <p:cNvPr id="7" name="Text 4"/>
          <p:cNvSpPr txBox="1"/>
          <p:nvPr/>
        </p:nvSpPr>
        <p:spPr>
          <a:xfrm>
            <a:off x="1691640" y="2011680"/>
            <a:ext cx="3886200" cy="457200"/>
          </a:xfrm>
          <a:prstGeom prst="rect">
            <a:avLst/>
          </a:prstGeom>
          <a:noFill/>
          <a:ln/>
        </p:spPr>
        <p:txBody>
          <a:bodyPr wrap="square" lIns="0" tIns="0" rIns="0" bIns="0" rtlCol="0" anchor="ctr"/>
          <a:lstStyle/>
          <a:p>
            <a:pPr indent="0" marL="0">
              <a:buNone/>
            </a:pPr>
            <a:r>
              <a:rPr lang="en-US" sz="1500" b="1" dirty="0">
                <a:solidFill>
                  <a:srgbClr val="0B2B2E"/>
                </a:solidFill>
                <a:latin typeface="Cambria" pitchFamily="34" charset="0"/>
                <a:ea typeface="Cambria" pitchFamily="34" charset="-122"/>
                <a:cs typeface="Cambria" pitchFamily="34" charset="-120"/>
              </a:rPr>
              <a:t>30-check automated flow test</a:t>
            </a:r>
            <a:endParaRPr lang="en-US" sz="1500" dirty="0"/>
          </a:p>
        </p:txBody>
      </p:sp>
      <p:sp>
        <p:nvSpPr>
          <p:cNvPr id="8" name="Text 5"/>
          <p:cNvSpPr txBox="1"/>
          <p:nvPr/>
        </p:nvSpPr>
        <p:spPr>
          <a:xfrm>
            <a:off x="1691640" y="2496312"/>
            <a:ext cx="3886200" cy="1097280"/>
          </a:xfrm>
          <a:prstGeom prst="rect">
            <a:avLst/>
          </a:prstGeom>
          <a:noFill/>
          <a:ln/>
        </p:spPr>
        <p:txBody>
          <a:bodyPr wrap="square" lIns="0" tIns="0" rIns="0" bIns="0" rtlCol="0" anchor="ctr"/>
          <a:lstStyle/>
          <a:p>
            <a:pPr indent="0" marL="0">
              <a:lnSpc>
                <a:spcPct val="120000"/>
              </a:lnSpc>
              <a:buNone/>
            </a:pPr>
            <a:r>
              <a:rPr lang="en-US" sz="1150" dirty="0">
                <a:solidFill>
                  <a:srgbClr val="5B7B7E"/>
                </a:solidFill>
                <a:latin typeface="Calibri" pitchFamily="34" charset="0"/>
                <a:ea typeface="Calibri" pitchFamily="34" charset="-122"/>
                <a:cs typeface="Calibri" pitchFamily="34" charset="-120"/>
              </a:rPr>
              <a:t>register → skills → match → request → accept → complete → review, run end-to-end before every demo.</a:t>
            </a:r>
            <a:endParaRPr lang="en-US" sz="1150" dirty="0"/>
          </a:p>
        </p:txBody>
      </p:sp>
      <p:sp>
        <p:nvSpPr>
          <p:cNvPr id="9" name="Shape 6"/>
          <p:cNvSpPr/>
          <p:nvPr/>
        </p:nvSpPr>
        <p:spPr>
          <a:xfrm>
            <a:off x="6172200" y="1783080"/>
            <a:ext cx="5349240" cy="1965960"/>
          </a:xfrm>
          <a:prstGeom prst="roundRect">
            <a:avLst>
              <a:gd name="adj" fmla="val 5581"/>
            </a:avLst>
          </a:prstGeom>
          <a:solidFill>
            <a:srgbClr val="EEF6F6"/>
          </a:solidFill>
          <a:ln/>
        </p:spPr>
      </p:sp>
      <p:sp>
        <p:nvSpPr>
          <p:cNvPr id="10" name="Shape 7"/>
          <p:cNvSpPr/>
          <p:nvPr/>
        </p:nvSpPr>
        <p:spPr>
          <a:xfrm>
            <a:off x="6446520" y="2057400"/>
            <a:ext cx="777240" cy="777240"/>
          </a:xfrm>
          <a:prstGeom prst="ellipse">
            <a:avLst/>
          </a:prstGeom>
          <a:solidFill>
            <a:srgbClr val="028090"/>
          </a:solidFill>
          <a:ln/>
        </p:spPr>
      </p:sp>
      <p:pic>
        <p:nvPicPr>
          <p:cNvPr id="11" name="Image 1" descr="/home/claude/pptx_build/icons/sync-white.png">    </p:cNvPr>
          <p:cNvPicPr>
            <a:picLocks noChangeAspect="1"/>
          </p:cNvPicPr>
          <p:nvPr/>
        </p:nvPicPr>
        <p:blipFill>
          <a:blip r:embed="rId2"/>
          <a:stretch>
            <a:fillRect/>
          </a:stretch>
        </p:blipFill>
        <p:spPr>
          <a:xfrm>
            <a:off x="6640830" y="2251710"/>
            <a:ext cx="388620" cy="388620"/>
          </a:xfrm>
          <a:prstGeom prst="rect">
            <a:avLst/>
          </a:prstGeom>
        </p:spPr>
      </p:pic>
      <p:sp>
        <p:nvSpPr>
          <p:cNvPr id="12" name="Text 8"/>
          <p:cNvSpPr txBox="1"/>
          <p:nvPr/>
        </p:nvSpPr>
        <p:spPr>
          <a:xfrm>
            <a:off x="7406640" y="2011680"/>
            <a:ext cx="3886200" cy="457200"/>
          </a:xfrm>
          <a:prstGeom prst="rect">
            <a:avLst/>
          </a:prstGeom>
          <a:noFill/>
          <a:ln/>
        </p:spPr>
        <p:txBody>
          <a:bodyPr wrap="square" lIns="0" tIns="0" rIns="0" bIns="0" rtlCol="0" anchor="ctr"/>
          <a:lstStyle/>
          <a:p>
            <a:pPr indent="0" marL="0">
              <a:buNone/>
            </a:pPr>
            <a:r>
              <a:rPr lang="en-US" sz="1500" b="1" dirty="0">
                <a:solidFill>
                  <a:srgbClr val="0B2B2E"/>
                </a:solidFill>
                <a:latin typeface="Cambria" pitchFamily="34" charset="0"/>
                <a:ea typeface="Cambria" pitchFamily="34" charset="-122"/>
                <a:cs typeface="Cambria" pitchFamily="34" charset="-120"/>
              </a:rPr>
              <a:t>One-command reset</a:t>
            </a:r>
            <a:endParaRPr lang="en-US" sz="1500" dirty="0"/>
          </a:p>
        </p:txBody>
      </p:sp>
      <p:sp>
        <p:nvSpPr>
          <p:cNvPr id="13" name="Text 9"/>
          <p:cNvSpPr txBox="1"/>
          <p:nvPr/>
        </p:nvSpPr>
        <p:spPr>
          <a:xfrm>
            <a:off x="7406640" y="2496312"/>
            <a:ext cx="3886200" cy="1097280"/>
          </a:xfrm>
          <a:prstGeom prst="rect">
            <a:avLst/>
          </a:prstGeom>
          <a:noFill/>
          <a:ln/>
        </p:spPr>
        <p:txBody>
          <a:bodyPr wrap="square" lIns="0" tIns="0" rIns="0" bIns="0" rtlCol="0" anchor="ctr"/>
          <a:lstStyle/>
          <a:p>
            <a:pPr indent="0" marL="0">
              <a:lnSpc>
                <a:spcPct val="120000"/>
              </a:lnSpc>
              <a:buNone/>
            </a:pPr>
            <a:r>
              <a:rPr lang="en-US" sz="1150" dirty="0">
                <a:solidFill>
                  <a:srgbClr val="5B7B7E"/>
                </a:solidFill>
                <a:latin typeface="Calibri" pitchFamily="34" charset="0"/>
                <a:ea typeface="Calibri" pitchFamily="34" charset="-122"/>
                <a:cs typeface="Calibri" pitchFamily="34" charset="-120"/>
              </a:rPr>
              <a:t>npm run seed restores the pristine demo state instantly if something breaks on stage.</a:t>
            </a:r>
            <a:endParaRPr lang="en-US" sz="1150" dirty="0"/>
          </a:p>
        </p:txBody>
      </p:sp>
      <p:sp>
        <p:nvSpPr>
          <p:cNvPr id="14" name="Shape 10"/>
          <p:cNvSpPr/>
          <p:nvPr/>
        </p:nvSpPr>
        <p:spPr>
          <a:xfrm>
            <a:off x="457200" y="4114800"/>
            <a:ext cx="5349240" cy="1965960"/>
          </a:xfrm>
          <a:prstGeom prst="roundRect">
            <a:avLst>
              <a:gd name="adj" fmla="val 5581"/>
            </a:avLst>
          </a:prstGeom>
          <a:solidFill>
            <a:srgbClr val="EEF6F6"/>
          </a:solidFill>
          <a:ln/>
        </p:spPr>
      </p:sp>
      <p:sp>
        <p:nvSpPr>
          <p:cNvPr id="15" name="Shape 11"/>
          <p:cNvSpPr/>
          <p:nvPr/>
        </p:nvSpPr>
        <p:spPr>
          <a:xfrm>
            <a:off x="731520" y="4389120"/>
            <a:ext cx="777240" cy="777240"/>
          </a:xfrm>
          <a:prstGeom prst="ellipse">
            <a:avLst/>
          </a:prstGeom>
          <a:solidFill>
            <a:srgbClr val="028090"/>
          </a:solidFill>
          <a:ln/>
        </p:spPr>
      </p:sp>
      <p:pic>
        <p:nvPicPr>
          <p:cNvPr id="16" name="Image 2" descr="/home/claude/pptx_build/icons/cube-white.png">    </p:cNvPr>
          <p:cNvPicPr>
            <a:picLocks noChangeAspect="1"/>
          </p:cNvPicPr>
          <p:nvPr/>
        </p:nvPicPr>
        <p:blipFill>
          <a:blip r:embed="rId3"/>
          <a:stretch>
            <a:fillRect/>
          </a:stretch>
        </p:blipFill>
        <p:spPr>
          <a:xfrm>
            <a:off x="925830" y="4583430"/>
            <a:ext cx="388620" cy="388620"/>
          </a:xfrm>
          <a:prstGeom prst="rect">
            <a:avLst/>
          </a:prstGeom>
        </p:spPr>
      </p:pic>
      <p:sp>
        <p:nvSpPr>
          <p:cNvPr id="17" name="Text 12"/>
          <p:cNvSpPr txBox="1"/>
          <p:nvPr/>
        </p:nvSpPr>
        <p:spPr>
          <a:xfrm>
            <a:off x="1691640" y="4343400"/>
            <a:ext cx="3886200" cy="457200"/>
          </a:xfrm>
          <a:prstGeom prst="rect">
            <a:avLst/>
          </a:prstGeom>
          <a:noFill/>
          <a:ln/>
        </p:spPr>
        <p:txBody>
          <a:bodyPr wrap="square" lIns="0" tIns="0" rIns="0" bIns="0" rtlCol="0" anchor="ctr"/>
          <a:lstStyle/>
          <a:p>
            <a:pPr indent="0" marL="0">
              <a:buNone/>
            </a:pPr>
            <a:r>
              <a:rPr lang="en-US" sz="1500" b="1" dirty="0">
                <a:solidFill>
                  <a:srgbClr val="0B2B2E"/>
                </a:solidFill>
                <a:latin typeface="Cambria" pitchFamily="34" charset="0"/>
                <a:ea typeface="Cambria" pitchFamily="34" charset="-122"/>
                <a:cs typeface="Cambria" pitchFamily="34" charset="-120"/>
              </a:rPr>
              <a:t>Single-process deployment</a:t>
            </a:r>
            <a:endParaRPr lang="en-US" sz="1500" dirty="0"/>
          </a:p>
        </p:txBody>
      </p:sp>
      <p:sp>
        <p:nvSpPr>
          <p:cNvPr id="18" name="Text 13"/>
          <p:cNvSpPr txBox="1"/>
          <p:nvPr/>
        </p:nvSpPr>
        <p:spPr>
          <a:xfrm>
            <a:off x="1691640" y="4828032"/>
            <a:ext cx="3886200" cy="1097280"/>
          </a:xfrm>
          <a:prstGeom prst="rect">
            <a:avLst/>
          </a:prstGeom>
          <a:noFill/>
          <a:ln/>
        </p:spPr>
        <p:txBody>
          <a:bodyPr wrap="square" lIns="0" tIns="0" rIns="0" bIns="0" rtlCol="0" anchor="ctr"/>
          <a:lstStyle/>
          <a:p>
            <a:pPr indent="0" marL="0">
              <a:lnSpc>
                <a:spcPct val="120000"/>
              </a:lnSpc>
              <a:buNone/>
            </a:pPr>
            <a:r>
              <a:rPr lang="en-US" sz="1150" dirty="0">
                <a:solidFill>
                  <a:srgbClr val="5B7B7E"/>
                </a:solidFill>
                <a:latin typeface="Calibri" pitchFamily="34" charset="0"/>
                <a:ea typeface="Calibri" pitchFamily="34" charset="-122"/>
                <a:cs typeface="Calibri" pitchFamily="34" charset="-120"/>
              </a:rPr>
              <a:t>Client and API ship from one process -- no orchestration needed for the hackathon stage.</a:t>
            </a:r>
            <a:endParaRPr lang="en-US" sz="1150" dirty="0"/>
          </a:p>
        </p:txBody>
      </p:sp>
      <p:sp>
        <p:nvSpPr>
          <p:cNvPr id="19" name="Shape 14"/>
          <p:cNvSpPr/>
          <p:nvPr/>
        </p:nvSpPr>
        <p:spPr>
          <a:xfrm>
            <a:off x="6172200" y="4114800"/>
            <a:ext cx="5349240" cy="1965960"/>
          </a:xfrm>
          <a:prstGeom prst="roundRect">
            <a:avLst>
              <a:gd name="adj" fmla="val 5581"/>
            </a:avLst>
          </a:prstGeom>
          <a:solidFill>
            <a:srgbClr val="EEF6F6"/>
          </a:solidFill>
          <a:ln/>
        </p:spPr>
      </p:sp>
      <p:sp>
        <p:nvSpPr>
          <p:cNvPr id="20" name="Shape 15"/>
          <p:cNvSpPr/>
          <p:nvPr/>
        </p:nvSpPr>
        <p:spPr>
          <a:xfrm>
            <a:off x="6446520" y="4389120"/>
            <a:ext cx="777240" cy="777240"/>
          </a:xfrm>
          <a:prstGeom prst="ellipse">
            <a:avLst/>
          </a:prstGeom>
          <a:solidFill>
            <a:srgbClr val="028090"/>
          </a:solidFill>
          <a:ln/>
        </p:spPr>
      </p:sp>
      <p:pic>
        <p:nvPicPr>
          <p:cNvPr id="21" name="Image 3" descr="/home/claude/pptx_build/icons/brain-white.png">    </p:cNvPr>
          <p:cNvPicPr>
            <a:picLocks noChangeAspect="1"/>
          </p:cNvPicPr>
          <p:nvPr/>
        </p:nvPicPr>
        <p:blipFill>
          <a:blip r:embed="rId4"/>
          <a:stretch>
            <a:fillRect/>
          </a:stretch>
        </p:blipFill>
        <p:spPr>
          <a:xfrm>
            <a:off x="6640830" y="4583430"/>
            <a:ext cx="388620" cy="388620"/>
          </a:xfrm>
          <a:prstGeom prst="rect">
            <a:avLst/>
          </a:prstGeom>
        </p:spPr>
      </p:pic>
      <p:sp>
        <p:nvSpPr>
          <p:cNvPr id="22" name="Text 16"/>
          <p:cNvSpPr txBox="1"/>
          <p:nvPr/>
        </p:nvSpPr>
        <p:spPr>
          <a:xfrm>
            <a:off x="7406640" y="4343400"/>
            <a:ext cx="3886200" cy="457200"/>
          </a:xfrm>
          <a:prstGeom prst="rect">
            <a:avLst/>
          </a:prstGeom>
          <a:noFill/>
          <a:ln/>
        </p:spPr>
        <p:txBody>
          <a:bodyPr wrap="square" lIns="0" tIns="0" rIns="0" bIns="0" rtlCol="0" anchor="ctr"/>
          <a:lstStyle/>
          <a:p>
            <a:pPr indent="0" marL="0">
              <a:buNone/>
            </a:pPr>
            <a:r>
              <a:rPr lang="en-US" sz="1500" b="1" dirty="0">
                <a:solidFill>
                  <a:srgbClr val="0B2B2E"/>
                </a:solidFill>
                <a:latin typeface="Cambria" pitchFamily="34" charset="0"/>
                <a:ea typeface="Cambria" pitchFamily="34" charset="-122"/>
                <a:cs typeface="Cambria" pitchFamily="34" charset="-120"/>
              </a:rPr>
              <a:t>Deterministic, explainable engine</a:t>
            </a:r>
            <a:endParaRPr lang="en-US" sz="1500" dirty="0"/>
          </a:p>
        </p:txBody>
      </p:sp>
      <p:sp>
        <p:nvSpPr>
          <p:cNvPr id="23" name="Text 17"/>
          <p:cNvSpPr txBox="1"/>
          <p:nvPr/>
        </p:nvSpPr>
        <p:spPr>
          <a:xfrm>
            <a:off x="7406640" y="4828032"/>
            <a:ext cx="3886200" cy="1097280"/>
          </a:xfrm>
          <a:prstGeom prst="rect">
            <a:avLst/>
          </a:prstGeom>
          <a:noFill/>
          <a:ln/>
        </p:spPr>
        <p:txBody>
          <a:bodyPr wrap="square" lIns="0" tIns="0" rIns="0" bIns="0" rtlCol="0" anchor="ctr"/>
          <a:lstStyle/>
          <a:p>
            <a:pPr indent="0" marL="0">
              <a:lnSpc>
                <a:spcPct val="120000"/>
              </a:lnSpc>
              <a:buNone/>
            </a:pPr>
            <a:r>
              <a:rPr lang="en-US" sz="1150" dirty="0">
                <a:solidFill>
                  <a:srgbClr val="5B7B7E"/>
                </a:solidFill>
                <a:latin typeface="Calibri" pitchFamily="34" charset="0"/>
                <a:ea typeface="Calibri" pitchFamily="34" charset="-122"/>
                <a:cs typeface="Calibri" pitchFamily="34" charset="-120"/>
              </a:rPr>
              <a:t>No ML black box to defend under judge questions -- every match score traces back to a rule.</a:t>
            </a:r>
            <a:endParaRPr lang="en-US" sz="1150" dirty="0"/>
          </a:p>
        </p:txBody>
      </p:sp>
      <p:sp>
        <p:nvSpPr>
          <p:cNvPr id="24" name="Text 18"/>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25" name="Text 19"/>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SOLUTION &amp; IMPACT POTENTIAL</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028090"/>
                </a:solidFill>
                <a:latin typeface="Cambria" pitchFamily="34" charset="0"/>
                <a:ea typeface="Cambria" pitchFamily="34" charset="-122"/>
                <a:cs typeface="Cambria" pitchFamily="34" charset="-120"/>
              </a:rPr>
              <a:t>Where this goes beyond the hackathon</a:t>
            </a:r>
            <a:endParaRPr lang="en-US" sz="3200" dirty="0"/>
          </a:p>
        </p:txBody>
      </p:sp>
      <p:sp>
        <p:nvSpPr>
          <p:cNvPr id="4" name="Shape 2"/>
          <p:cNvSpPr/>
          <p:nvPr/>
        </p:nvSpPr>
        <p:spPr>
          <a:xfrm>
            <a:off x="457200" y="1737360"/>
            <a:ext cx="5486400" cy="3931920"/>
          </a:xfrm>
          <a:prstGeom prst="roundRect">
            <a:avLst>
              <a:gd name="adj" fmla="val 2791"/>
            </a:avLst>
          </a:prstGeom>
          <a:solidFill>
            <a:srgbClr val="EEF6F6"/>
          </a:solidFill>
          <a:ln/>
        </p:spPr>
      </p:sp>
      <p:sp>
        <p:nvSpPr>
          <p:cNvPr id="5" name="Shape 3"/>
          <p:cNvSpPr/>
          <p:nvPr/>
        </p:nvSpPr>
        <p:spPr>
          <a:xfrm>
            <a:off x="777240" y="2011680"/>
            <a:ext cx="685800" cy="685800"/>
          </a:xfrm>
          <a:prstGeom prst="ellipse">
            <a:avLst/>
          </a:prstGeom>
          <a:solidFill>
            <a:srgbClr val="00A896"/>
          </a:solidFill>
          <a:ln/>
        </p:spPr>
      </p:sp>
      <p:pic>
        <p:nvPicPr>
          <p:cNvPr id="6" name="Image 0" descr="/home/claude/pptx_build/icons/globe-white.png">    </p:cNvPr>
          <p:cNvPicPr>
            <a:picLocks noChangeAspect="1"/>
          </p:cNvPicPr>
          <p:nvPr/>
        </p:nvPicPr>
        <p:blipFill>
          <a:blip r:embed="rId1"/>
          <a:stretch>
            <a:fillRect/>
          </a:stretch>
        </p:blipFill>
        <p:spPr>
          <a:xfrm>
            <a:off x="948690" y="2183130"/>
            <a:ext cx="342900" cy="342900"/>
          </a:xfrm>
          <a:prstGeom prst="rect">
            <a:avLst/>
          </a:prstGeom>
        </p:spPr>
      </p:pic>
      <p:sp>
        <p:nvSpPr>
          <p:cNvPr id="7" name="Text 4"/>
          <p:cNvSpPr txBox="1"/>
          <p:nvPr/>
        </p:nvSpPr>
        <p:spPr>
          <a:xfrm>
            <a:off x="1600200" y="2084832"/>
            <a:ext cx="4114800" cy="457200"/>
          </a:xfrm>
          <a:prstGeom prst="rect">
            <a:avLst/>
          </a:prstGeom>
          <a:noFill/>
          <a:ln/>
        </p:spPr>
        <p:txBody>
          <a:bodyPr wrap="square" lIns="0" tIns="0" rIns="0" bIns="0" rtlCol="0" anchor="ctr"/>
          <a:lstStyle/>
          <a:p>
            <a:pPr indent="0" marL="0">
              <a:buNone/>
            </a:pPr>
            <a:r>
              <a:rPr lang="en-US" sz="1800" b="1" dirty="0">
                <a:solidFill>
                  <a:srgbClr val="0B2B2E"/>
                </a:solidFill>
                <a:latin typeface="Cambria" pitchFamily="34" charset="0"/>
                <a:ea typeface="Cambria" pitchFamily="34" charset="-122"/>
                <a:cs typeface="Cambria" pitchFamily="34" charset="-120"/>
              </a:rPr>
              <a:t>Impact potential</a:t>
            </a:r>
            <a:endParaRPr lang="en-US" sz="1800" dirty="0"/>
          </a:p>
        </p:txBody>
      </p:sp>
      <p:sp>
        <p:nvSpPr>
          <p:cNvPr id="8" name="Text 5"/>
          <p:cNvSpPr txBox="1"/>
          <p:nvPr/>
        </p:nvSpPr>
        <p:spPr>
          <a:xfrm>
            <a:off x="777240" y="2834640"/>
            <a:ext cx="484632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Every campus already runs on a hidden economy of shared skills -- SkillSwap gives it structure</a:t>
            </a:r>
            <a:endParaRPr lang="en-US" sz="1300" dirty="0"/>
          </a:p>
          <a:p>
            <a:pPr marL="342900" indent="-342900">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Verified sign-in and two-way reviews make trading with a stranger on campus feel safe</a:t>
            </a:r>
            <a:endParaRPr lang="en-US" sz="1300" dirty="0"/>
          </a:p>
          <a:p>
            <a:pPr marL="342900" indent="-342900">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Free for students, and the university allow-list scales to any campus with an academic e-mail domain</a:t>
            </a:r>
            <a:endParaRPr lang="en-US" sz="1300" dirty="0"/>
          </a:p>
        </p:txBody>
      </p:sp>
      <p:sp>
        <p:nvSpPr>
          <p:cNvPr id="9" name="Shape 6"/>
          <p:cNvSpPr/>
          <p:nvPr/>
        </p:nvSpPr>
        <p:spPr>
          <a:xfrm>
            <a:off x="6263640" y="1737360"/>
            <a:ext cx="5486400" cy="3931920"/>
          </a:xfrm>
          <a:prstGeom prst="roundRect">
            <a:avLst>
              <a:gd name="adj" fmla="val 2791"/>
            </a:avLst>
          </a:prstGeom>
          <a:solidFill>
            <a:srgbClr val="013A40"/>
          </a:solidFill>
          <a:ln/>
        </p:spPr>
      </p:sp>
      <p:sp>
        <p:nvSpPr>
          <p:cNvPr id="10" name="Shape 7"/>
          <p:cNvSpPr/>
          <p:nvPr/>
        </p:nvSpPr>
        <p:spPr>
          <a:xfrm>
            <a:off x="6583680" y="2011680"/>
            <a:ext cx="685800" cy="685800"/>
          </a:xfrm>
          <a:prstGeom prst="ellipse">
            <a:avLst/>
          </a:prstGeom>
          <a:solidFill>
            <a:srgbClr val="00A896"/>
          </a:solidFill>
          <a:ln/>
        </p:spPr>
      </p:sp>
      <p:pic>
        <p:nvPicPr>
          <p:cNvPr id="11" name="Image 1" descr="/home/claude/pptx_build/icons/comments-white.png">    </p:cNvPr>
          <p:cNvPicPr>
            <a:picLocks noChangeAspect="1"/>
          </p:cNvPicPr>
          <p:nvPr/>
        </p:nvPicPr>
        <p:blipFill>
          <a:blip r:embed="rId2"/>
          <a:stretch>
            <a:fillRect/>
          </a:stretch>
        </p:blipFill>
        <p:spPr>
          <a:xfrm>
            <a:off x="6755130" y="2183130"/>
            <a:ext cx="342900" cy="342900"/>
          </a:xfrm>
          <a:prstGeom prst="rect">
            <a:avLst/>
          </a:prstGeom>
        </p:spPr>
      </p:pic>
      <p:sp>
        <p:nvSpPr>
          <p:cNvPr id="12" name="Text 8"/>
          <p:cNvSpPr txBox="1"/>
          <p:nvPr/>
        </p:nvSpPr>
        <p:spPr>
          <a:xfrm>
            <a:off x="7406640" y="2084832"/>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What's next</a:t>
            </a:r>
            <a:endParaRPr lang="en-US" sz="1800" dirty="0"/>
          </a:p>
        </p:txBody>
      </p:sp>
      <p:sp>
        <p:nvSpPr>
          <p:cNvPr id="13" name="Text 9"/>
          <p:cNvSpPr txBox="1"/>
          <p:nvPr/>
        </p:nvSpPr>
        <p:spPr>
          <a:xfrm>
            <a:off x="6583680" y="2834640"/>
            <a:ext cx="484632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E4F5F3"/>
                </a:solidFill>
                <a:latin typeface="Calibri" pitchFamily="34" charset="0"/>
                <a:ea typeface="Calibri" pitchFamily="34" charset="-122"/>
                <a:cs typeface="Calibri" pitchFamily="34" charset="-120"/>
              </a:rPr>
              <a:t>In-app messaging &amp; scheduling between matched students</a:t>
            </a:r>
            <a:endParaRPr lang="en-US" sz="1300" dirty="0"/>
          </a:p>
          <a:p>
            <a:pPr marL="342900" indent="-342900">
              <a:spcAft>
                <a:spcPts val="1000"/>
              </a:spcAft>
              <a:buSzPct val="100000"/>
              <a:buChar char="•"/>
            </a:pPr>
            <a:r>
              <a:rPr lang="en-US" sz="1300" dirty="0">
                <a:solidFill>
                  <a:srgbClr val="E4F5F3"/>
                </a:solidFill>
                <a:latin typeface="Calibri" pitchFamily="34" charset="0"/>
                <a:ea typeface="Calibri" pitchFamily="34" charset="-122"/>
                <a:cs typeface="Calibri" pitchFamily="34" charset="-120"/>
              </a:rPr>
              <a:t>Automated face-match verification (today's check confirms a real photo, not that it matches the account)</a:t>
            </a:r>
            <a:endParaRPr lang="en-US" sz="1300" dirty="0"/>
          </a:p>
          <a:p>
            <a:pPr marL="342900" indent="-342900">
              <a:spcAft>
                <a:spcPts val="1000"/>
              </a:spcAft>
              <a:buSzPct val="100000"/>
              <a:buChar char="•"/>
            </a:pPr>
            <a:r>
              <a:rPr lang="en-US" sz="1300" dirty="0">
                <a:solidFill>
                  <a:srgbClr val="E4F5F3"/>
                </a:solidFill>
                <a:latin typeface="Calibri" pitchFamily="34" charset="0"/>
                <a:ea typeface="Calibri" pitchFamily="34" charset="-122"/>
                <a:cs typeface="Calibri" pitchFamily="34" charset="-120"/>
              </a:rPr>
              <a:t>Negative-balance credit trading for flexible swaps</a:t>
            </a:r>
            <a:endParaRPr lang="en-US" sz="1300" dirty="0"/>
          </a:p>
        </p:txBody>
      </p:sp>
      <p:sp>
        <p:nvSpPr>
          <p:cNvPr id="14" name="Text 10"/>
          <p:cNvSpPr/>
          <p:nvPr/>
        </p:nvSpPr>
        <p:spPr>
          <a:xfrm>
            <a:off x="457200" y="6510528"/>
            <a:ext cx="7315200" cy="274320"/>
          </a:xfrm>
          <a:prstGeom prst="rect">
            <a:avLst/>
          </a:prstGeom>
          <a:noFill/>
          <a:ln/>
        </p:spPr>
        <p:txBody>
          <a:bodyPr wrap="square" rtlCol="0" anchor="ctr"/>
          <a:lstStyle/>
          <a:p>
            <a:pPr algn="l" indent="0" marL="0">
              <a:buNone/>
            </a:pPr>
            <a:r>
              <a:rPr lang="en-US" sz="1000" dirty="0">
                <a:solidFill>
                  <a:srgbClr val="5B7B7E"/>
                </a:solidFill>
                <a:latin typeface="Calibri" pitchFamily="34" charset="0"/>
                <a:ea typeface="Calibri" pitchFamily="34" charset="-122"/>
                <a:cs typeface="Calibri" pitchFamily="34" charset="-120"/>
              </a:rPr>
              <a:t>SkillSwap</a:t>
            </a:r>
            <a:endParaRPr lang="en-US" sz="1000" dirty="0"/>
          </a:p>
        </p:txBody>
      </p:sp>
      <p:sp>
        <p:nvSpPr>
          <p:cNvPr id="15" name="Text 11"/>
          <p:cNvSpPr/>
          <p:nvPr/>
        </p:nvSpPr>
        <p:spPr>
          <a:xfrm>
            <a:off x="11521440" y="6510528"/>
            <a:ext cx="365760" cy="274320"/>
          </a:xfrm>
          <a:prstGeom prst="rect">
            <a:avLst/>
          </a:prstGeom>
          <a:noFill/>
          <a:ln/>
        </p:spPr>
        <p:txBody>
          <a:bodyPr wrap="square" rtlCol="0" anchor="ctr"/>
          <a:lstStyle/>
          <a:p>
            <a:pPr algn="r" indent="0" marL="0">
              <a:buNone/>
            </a:pPr>
            <a:r>
              <a:rPr lang="en-US" sz="1000" dirty="0">
                <a:solidFill>
                  <a:srgbClr val="5B7B7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028090">
              <a:alpha val="55000"/>
            </a:srgbClr>
          </a:solidFill>
          <a:ln/>
        </p:spPr>
      </p:sp>
      <p:sp>
        <p:nvSpPr>
          <p:cNvPr id="3" name="Text 1"/>
          <p:cNvSpPr/>
          <p:nvPr/>
        </p:nvSpPr>
        <p:spPr>
          <a:xfrm>
            <a:off x="457200" y="384048"/>
            <a:ext cx="9144000" cy="27432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TEAMWORK &amp; COLLABORATION</a:t>
            </a:r>
            <a:endParaRPr lang="en-US" sz="1200" dirty="0"/>
          </a:p>
        </p:txBody>
      </p:sp>
      <p:sp>
        <p:nvSpPr>
          <p:cNvPr id="4" name="Text 2"/>
          <p:cNvSpPr txBox="1"/>
          <p:nvPr/>
        </p:nvSpPr>
        <p:spPr>
          <a:xfrm>
            <a:off x="457200" y="658368"/>
            <a:ext cx="112471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Built together</a:t>
            </a:r>
            <a:endParaRPr lang="en-US" sz="3200" dirty="0"/>
          </a:p>
        </p:txBody>
      </p:sp>
      <p:sp>
        <p:nvSpPr>
          <p:cNvPr id="5" name="Shape 3"/>
          <p:cNvSpPr/>
          <p:nvPr/>
        </p:nvSpPr>
        <p:spPr>
          <a:xfrm>
            <a:off x="457200" y="2103120"/>
            <a:ext cx="2148840" cy="2286000"/>
          </a:xfrm>
          <a:prstGeom prst="roundRect">
            <a:avLst>
              <a:gd name="adj" fmla="val 5106"/>
            </a:avLst>
          </a:prstGeom>
          <a:solidFill>
            <a:srgbClr val="0A4A52"/>
          </a:solidFill>
          <a:ln/>
        </p:spPr>
      </p:sp>
      <p:sp>
        <p:nvSpPr>
          <p:cNvPr id="6" name="Shape 4"/>
          <p:cNvSpPr/>
          <p:nvPr/>
        </p:nvSpPr>
        <p:spPr>
          <a:xfrm>
            <a:off x="1143000" y="2377440"/>
            <a:ext cx="777240" cy="777240"/>
          </a:xfrm>
          <a:prstGeom prst="ellipse">
            <a:avLst/>
          </a:prstGeom>
          <a:solidFill>
            <a:srgbClr val="00A896"/>
          </a:solidFill>
          <a:ln/>
        </p:spPr>
      </p:sp>
      <p:pic>
        <p:nvPicPr>
          <p:cNvPr id="7" name="Image 0" descr="/home/claude/pptx_build/icons/laptop-white.png">    </p:cNvPr>
          <p:cNvPicPr>
            <a:picLocks noChangeAspect="1"/>
          </p:cNvPicPr>
          <p:nvPr/>
        </p:nvPicPr>
        <p:blipFill>
          <a:blip r:embed="rId1"/>
          <a:stretch>
            <a:fillRect/>
          </a:stretch>
        </p:blipFill>
        <p:spPr>
          <a:xfrm>
            <a:off x="1337310" y="2571750"/>
            <a:ext cx="388620" cy="388620"/>
          </a:xfrm>
          <a:prstGeom prst="rect">
            <a:avLst/>
          </a:prstGeom>
        </p:spPr>
      </p:pic>
      <p:sp>
        <p:nvSpPr>
          <p:cNvPr id="8" name="Text 5"/>
          <p:cNvSpPr txBox="1"/>
          <p:nvPr/>
        </p:nvSpPr>
        <p:spPr>
          <a:xfrm>
            <a:off x="594360" y="3337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Frontend &amp; UX</a:t>
            </a:r>
            <a:endParaRPr lang="en-US" sz="1300" dirty="0"/>
          </a:p>
        </p:txBody>
      </p:sp>
      <p:sp>
        <p:nvSpPr>
          <p:cNvPr id="9" name="Text 6"/>
          <p:cNvSpPr txBox="1"/>
          <p:nvPr/>
        </p:nvSpPr>
        <p:spPr>
          <a:xfrm>
            <a:off x="594360" y="3931920"/>
            <a:ext cx="1874520" cy="320040"/>
          </a:xfrm>
          <a:prstGeom prst="rect">
            <a:avLst/>
          </a:prstGeom>
          <a:noFill/>
          <a:ln/>
        </p:spPr>
        <p:txBody>
          <a:bodyPr wrap="square" lIns="0" tIns="0" rIns="0" bIns="0" rtlCol="0" anchor="ctr"/>
          <a:lstStyle/>
          <a:p>
            <a:pPr algn="ctr" indent="0" marL="0">
              <a:buNone/>
            </a:pPr>
            <a:r>
              <a:rPr lang="en-US" sz="1050" i="1" dirty="0">
                <a:solidFill>
                  <a:srgbClr val="9FD3D0"/>
                </a:solidFill>
                <a:latin typeface="Calibri" pitchFamily="34" charset="0"/>
                <a:ea typeface="Calibri" pitchFamily="34" charset="-122"/>
                <a:cs typeface="Calibri" pitchFamily="34" charset="-120"/>
              </a:rPr>
              <a:t>Your name</a:t>
            </a:r>
            <a:endParaRPr lang="en-US" sz="1050" dirty="0"/>
          </a:p>
        </p:txBody>
      </p:sp>
      <p:sp>
        <p:nvSpPr>
          <p:cNvPr id="10" name="Shape 7"/>
          <p:cNvSpPr/>
          <p:nvPr/>
        </p:nvSpPr>
        <p:spPr>
          <a:xfrm>
            <a:off x="2743200" y="2103120"/>
            <a:ext cx="2148840" cy="2286000"/>
          </a:xfrm>
          <a:prstGeom prst="roundRect">
            <a:avLst>
              <a:gd name="adj" fmla="val 5106"/>
            </a:avLst>
          </a:prstGeom>
          <a:solidFill>
            <a:srgbClr val="0A4A52"/>
          </a:solidFill>
          <a:ln/>
        </p:spPr>
      </p:sp>
      <p:sp>
        <p:nvSpPr>
          <p:cNvPr id="11" name="Shape 8"/>
          <p:cNvSpPr/>
          <p:nvPr/>
        </p:nvSpPr>
        <p:spPr>
          <a:xfrm>
            <a:off x="3429000" y="2377440"/>
            <a:ext cx="777240" cy="777240"/>
          </a:xfrm>
          <a:prstGeom prst="ellipse">
            <a:avLst/>
          </a:prstGeom>
          <a:solidFill>
            <a:srgbClr val="00A896"/>
          </a:solidFill>
          <a:ln/>
        </p:spPr>
      </p:sp>
      <p:pic>
        <p:nvPicPr>
          <p:cNvPr id="12" name="Image 1" descr="/home/claude/pptx_build/icons/server-white.png">    </p:cNvPr>
          <p:cNvPicPr>
            <a:picLocks noChangeAspect="1"/>
          </p:cNvPicPr>
          <p:nvPr/>
        </p:nvPicPr>
        <p:blipFill>
          <a:blip r:embed="rId2"/>
          <a:stretch>
            <a:fillRect/>
          </a:stretch>
        </p:blipFill>
        <p:spPr>
          <a:xfrm>
            <a:off x="3623310" y="2571750"/>
            <a:ext cx="388620" cy="388620"/>
          </a:xfrm>
          <a:prstGeom prst="rect">
            <a:avLst/>
          </a:prstGeom>
        </p:spPr>
      </p:pic>
      <p:sp>
        <p:nvSpPr>
          <p:cNvPr id="13" name="Text 9"/>
          <p:cNvSpPr txBox="1"/>
          <p:nvPr/>
        </p:nvSpPr>
        <p:spPr>
          <a:xfrm>
            <a:off x="2880360" y="3337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Backend &amp; API</a:t>
            </a:r>
            <a:endParaRPr lang="en-US" sz="1300" dirty="0"/>
          </a:p>
        </p:txBody>
      </p:sp>
      <p:sp>
        <p:nvSpPr>
          <p:cNvPr id="14" name="Text 10"/>
          <p:cNvSpPr txBox="1"/>
          <p:nvPr/>
        </p:nvSpPr>
        <p:spPr>
          <a:xfrm>
            <a:off x="2880360" y="3931920"/>
            <a:ext cx="1874520" cy="320040"/>
          </a:xfrm>
          <a:prstGeom prst="rect">
            <a:avLst/>
          </a:prstGeom>
          <a:noFill/>
          <a:ln/>
        </p:spPr>
        <p:txBody>
          <a:bodyPr wrap="square" lIns="0" tIns="0" rIns="0" bIns="0" rtlCol="0" anchor="ctr"/>
          <a:lstStyle/>
          <a:p>
            <a:pPr algn="ctr" indent="0" marL="0">
              <a:buNone/>
            </a:pPr>
            <a:r>
              <a:rPr lang="en-US" sz="1050" i="1" dirty="0">
                <a:solidFill>
                  <a:srgbClr val="9FD3D0"/>
                </a:solidFill>
                <a:latin typeface="Calibri" pitchFamily="34" charset="0"/>
                <a:ea typeface="Calibri" pitchFamily="34" charset="-122"/>
                <a:cs typeface="Calibri" pitchFamily="34" charset="-120"/>
              </a:rPr>
              <a:t>Your name</a:t>
            </a:r>
            <a:endParaRPr lang="en-US" sz="1050" dirty="0"/>
          </a:p>
        </p:txBody>
      </p:sp>
      <p:sp>
        <p:nvSpPr>
          <p:cNvPr id="15" name="Shape 11"/>
          <p:cNvSpPr/>
          <p:nvPr/>
        </p:nvSpPr>
        <p:spPr>
          <a:xfrm>
            <a:off x="5029200" y="2103120"/>
            <a:ext cx="2148840" cy="2286000"/>
          </a:xfrm>
          <a:prstGeom prst="roundRect">
            <a:avLst>
              <a:gd name="adj" fmla="val 5106"/>
            </a:avLst>
          </a:prstGeom>
          <a:solidFill>
            <a:srgbClr val="0A4A52"/>
          </a:solidFill>
          <a:ln/>
        </p:spPr>
      </p:sp>
      <p:sp>
        <p:nvSpPr>
          <p:cNvPr id="16" name="Shape 12"/>
          <p:cNvSpPr/>
          <p:nvPr/>
        </p:nvSpPr>
        <p:spPr>
          <a:xfrm>
            <a:off x="5715000" y="2377440"/>
            <a:ext cx="777240" cy="777240"/>
          </a:xfrm>
          <a:prstGeom prst="ellipse">
            <a:avLst/>
          </a:prstGeom>
          <a:solidFill>
            <a:srgbClr val="00A896"/>
          </a:solidFill>
          <a:ln/>
        </p:spPr>
      </p:sp>
      <p:pic>
        <p:nvPicPr>
          <p:cNvPr id="17" name="Image 2" descr="/home/claude/pptx_build/icons/bullseye-white.png">    </p:cNvPr>
          <p:cNvPicPr>
            <a:picLocks noChangeAspect="1"/>
          </p:cNvPicPr>
          <p:nvPr/>
        </p:nvPicPr>
        <p:blipFill>
          <a:blip r:embed="rId3"/>
          <a:stretch>
            <a:fillRect/>
          </a:stretch>
        </p:blipFill>
        <p:spPr>
          <a:xfrm>
            <a:off x="5909310" y="2571750"/>
            <a:ext cx="388620" cy="388620"/>
          </a:xfrm>
          <a:prstGeom prst="rect">
            <a:avLst/>
          </a:prstGeom>
        </p:spPr>
      </p:pic>
      <p:sp>
        <p:nvSpPr>
          <p:cNvPr id="18" name="Text 13"/>
          <p:cNvSpPr txBox="1"/>
          <p:nvPr/>
        </p:nvSpPr>
        <p:spPr>
          <a:xfrm>
            <a:off x="5166360" y="3337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Matching Engine &amp; Data</a:t>
            </a:r>
            <a:endParaRPr lang="en-US" sz="1300" dirty="0"/>
          </a:p>
        </p:txBody>
      </p:sp>
      <p:sp>
        <p:nvSpPr>
          <p:cNvPr id="19" name="Text 14"/>
          <p:cNvSpPr txBox="1"/>
          <p:nvPr/>
        </p:nvSpPr>
        <p:spPr>
          <a:xfrm>
            <a:off x="5166360" y="3931920"/>
            <a:ext cx="1874520" cy="320040"/>
          </a:xfrm>
          <a:prstGeom prst="rect">
            <a:avLst/>
          </a:prstGeom>
          <a:noFill/>
          <a:ln/>
        </p:spPr>
        <p:txBody>
          <a:bodyPr wrap="square" lIns="0" tIns="0" rIns="0" bIns="0" rtlCol="0" anchor="ctr"/>
          <a:lstStyle/>
          <a:p>
            <a:pPr algn="ctr" indent="0" marL="0">
              <a:buNone/>
            </a:pPr>
            <a:r>
              <a:rPr lang="en-US" sz="1050" i="1" dirty="0">
                <a:solidFill>
                  <a:srgbClr val="9FD3D0"/>
                </a:solidFill>
                <a:latin typeface="Calibri" pitchFamily="34" charset="0"/>
                <a:ea typeface="Calibri" pitchFamily="34" charset="-122"/>
                <a:cs typeface="Calibri" pitchFamily="34" charset="-120"/>
              </a:rPr>
              <a:t>Your name</a:t>
            </a:r>
            <a:endParaRPr lang="en-US" sz="1050" dirty="0"/>
          </a:p>
        </p:txBody>
      </p:sp>
      <p:sp>
        <p:nvSpPr>
          <p:cNvPr id="20" name="Shape 15"/>
          <p:cNvSpPr/>
          <p:nvPr/>
        </p:nvSpPr>
        <p:spPr>
          <a:xfrm>
            <a:off x="7315200" y="2103120"/>
            <a:ext cx="2148840" cy="2286000"/>
          </a:xfrm>
          <a:prstGeom prst="roundRect">
            <a:avLst>
              <a:gd name="adj" fmla="val 5106"/>
            </a:avLst>
          </a:prstGeom>
          <a:solidFill>
            <a:srgbClr val="0A4A52"/>
          </a:solidFill>
          <a:ln/>
        </p:spPr>
      </p:sp>
      <p:sp>
        <p:nvSpPr>
          <p:cNvPr id="21" name="Shape 16"/>
          <p:cNvSpPr/>
          <p:nvPr/>
        </p:nvSpPr>
        <p:spPr>
          <a:xfrm>
            <a:off x="8001000" y="2377440"/>
            <a:ext cx="777240" cy="777240"/>
          </a:xfrm>
          <a:prstGeom prst="ellipse">
            <a:avLst/>
          </a:prstGeom>
          <a:solidFill>
            <a:srgbClr val="00A896"/>
          </a:solidFill>
          <a:ln/>
        </p:spPr>
      </p:sp>
      <p:pic>
        <p:nvPicPr>
          <p:cNvPr id="22" name="Image 3" descr="/home/claude/pptx_build/icons/shield-white.png">    </p:cNvPr>
          <p:cNvPicPr>
            <a:picLocks noChangeAspect="1"/>
          </p:cNvPicPr>
          <p:nvPr/>
        </p:nvPicPr>
        <p:blipFill>
          <a:blip r:embed="rId4"/>
          <a:stretch>
            <a:fillRect/>
          </a:stretch>
        </p:blipFill>
        <p:spPr>
          <a:xfrm>
            <a:off x="8195310" y="2571750"/>
            <a:ext cx="388620" cy="388620"/>
          </a:xfrm>
          <a:prstGeom prst="rect">
            <a:avLst/>
          </a:prstGeom>
        </p:spPr>
      </p:pic>
      <p:sp>
        <p:nvSpPr>
          <p:cNvPr id="23" name="Text 17"/>
          <p:cNvSpPr txBox="1"/>
          <p:nvPr/>
        </p:nvSpPr>
        <p:spPr>
          <a:xfrm>
            <a:off x="7452360" y="3337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Trust &amp; Verification</a:t>
            </a:r>
            <a:endParaRPr lang="en-US" sz="1300" dirty="0"/>
          </a:p>
        </p:txBody>
      </p:sp>
      <p:sp>
        <p:nvSpPr>
          <p:cNvPr id="24" name="Text 18"/>
          <p:cNvSpPr txBox="1"/>
          <p:nvPr/>
        </p:nvSpPr>
        <p:spPr>
          <a:xfrm>
            <a:off x="7452360" y="3931920"/>
            <a:ext cx="1874520" cy="320040"/>
          </a:xfrm>
          <a:prstGeom prst="rect">
            <a:avLst/>
          </a:prstGeom>
          <a:noFill/>
          <a:ln/>
        </p:spPr>
        <p:txBody>
          <a:bodyPr wrap="square" lIns="0" tIns="0" rIns="0" bIns="0" rtlCol="0" anchor="ctr"/>
          <a:lstStyle/>
          <a:p>
            <a:pPr algn="ctr" indent="0" marL="0">
              <a:buNone/>
            </a:pPr>
            <a:r>
              <a:rPr lang="en-US" sz="1050" i="1" dirty="0">
                <a:solidFill>
                  <a:srgbClr val="9FD3D0"/>
                </a:solidFill>
                <a:latin typeface="Calibri" pitchFamily="34" charset="0"/>
                <a:ea typeface="Calibri" pitchFamily="34" charset="-122"/>
                <a:cs typeface="Calibri" pitchFamily="34" charset="-120"/>
              </a:rPr>
              <a:t>Your name</a:t>
            </a:r>
            <a:endParaRPr lang="en-US" sz="1050" dirty="0"/>
          </a:p>
        </p:txBody>
      </p:sp>
      <p:sp>
        <p:nvSpPr>
          <p:cNvPr id="25" name="Shape 19"/>
          <p:cNvSpPr/>
          <p:nvPr/>
        </p:nvSpPr>
        <p:spPr>
          <a:xfrm>
            <a:off x="9601200" y="2103120"/>
            <a:ext cx="2148840" cy="2286000"/>
          </a:xfrm>
          <a:prstGeom prst="roundRect">
            <a:avLst>
              <a:gd name="adj" fmla="val 5106"/>
            </a:avLst>
          </a:prstGeom>
          <a:solidFill>
            <a:srgbClr val="0A4A52"/>
          </a:solidFill>
          <a:ln/>
        </p:spPr>
      </p:sp>
      <p:sp>
        <p:nvSpPr>
          <p:cNvPr id="26" name="Shape 20"/>
          <p:cNvSpPr/>
          <p:nvPr/>
        </p:nvSpPr>
        <p:spPr>
          <a:xfrm>
            <a:off x="10287000" y="2377440"/>
            <a:ext cx="777240" cy="777240"/>
          </a:xfrm>
          <a:prstGeom prst="ellipse">
            <a:avLst/>
          </a:prstGeom>
          <a:solidFill>
            <a:srgbClr val="00A896"/>
          </a:solidFill>
          <a:ln/>
        </p:spPr>
      </p:sp>
      <p:pic>
        <p:nvPicPr>
          <p:cNvPr id="27" name="Image 4" descr="/home/claude/pptx_build/icons/vial-white.png">    </p:cNvPr>
          <p:cNvPicPr>
            <a:picLocks noChangeAspect="1"/>
          </p:cNvPicPr>
          <p:nvPr/>
        </p:nvPicPr>
        <p:blipFill>
          <a:blip r:embed="rId5"/>
          <a:stretch>
            <a:fillRect/>
          </a:stretch>
        </p:blipFill>
        <p:spPr>
          <a:xfrm>
            <a:off x="10481310" y="2571750"/>
            <a:ext cx="388620" cy="388620"/>
          </a:xfrm>
          <a:prstGeom prst="rect">
            <a:avLst/>
          </a:prstGeom>
        </p:spPr>
      </p:pic>
      <p:sp>
        <p:nvSpPr>
          <p:cNvPr id="28" name="Text 21"/>
          <p:cNvSpPr txBox="1"/>
          <p:nvPr/>
        </p:nvSpPr>
        <p:spPr>
          <a:xfrm>
            <a:off x="9738360" y="3337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Testing &amp; Demo</a:t>
            </a:r>
            <a:endParaRPr lang="en-US" sz="1300" dirty="0"/>
          </a:p>
        </p:txBody>
      </p:sp>
      <p:sp>
        <p:nvSpPr>
          <p:cNvPr id="29" name="Text 22"/>
          <p:cNvSpPr txBox="1"/>
          <p:nvPr/>
        </p:nvSpPr>
        <p:spPr>
          <a:xfrm>
            <a:off x="9738360" y="3931920"/>
            <a:ext cx="1874520" cy="320040"/>
          </a:xfrm>
          <a:prstGeom prst="rect">
            <a:avLst/>
          </a:prstGeom>
          <a:noFill/>
          <a:ln/>
        </p:spPr>
        <p:txBody>
          <a:bodyPr wrap="square" lIns="0" tIns="0" rIns="0" bIns="0" rtlCol="0" anchor="ctr"/>
          <a:lstStyle/>
          <a:p>
            <a:pPr algn="ctr" indent="0" marL="0">
              <a:buNone/>
            </a:pPr>
            <a:r>
              <a:rPr lang="en-US" sz="1050" i="1" dirty="0">
                <a:solidFill>
                  <a:srgbClr val="9FD3D0"/>
                </a:solidFill>
                <a:latin typeface="Calibri" pitchFamily="34" charset="0"/>
                <a:ea typeface="Calibri" pitchFamily="34" charset="-122"/>
                <a:cs typeface="Calibri" pitchFamily="34" charset="-120"/>
              </a:rPr>
              <a:t>Your name</a:t>
            </a:r>
            <a:endParaRPr lang="en-US" sz="1050" dirty="0"/>
          </a:p>
        </p:txBody>
      </p:sp>
      <p:sp>
        <p:nvSpPr>
          <p:cNvPr id="30" name="Text 23"/>
          <p:cNvSpPr txBox="1"/>
          <p:nvPr/>
        </p:nvSpPr>
        <p:spPr>
          <a:xfrm>
            <a:off x="457200" y="4892040"/>
            <a:ext cx="112471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Thank you — questions?</a:t>
            </a:r>
            <a:endParaRPr lang="en-US" sz="3000" dirty="0"/>
          </a:p>
        </p:txBody>
      </p:sp>
      <p:sp>
        <p:nvSpPr>
          <p:cNvPr id="31" name="Text 24"/>
          <p:cNvSpPr txBox="1"/>
          <p:nvPr/>
        </p:nvSpPr>
        <p:spPr>
          <a:xfrm>
            <a:off x="457200" y="5623560"/>
            <a:ext cx="7315200" cy="365760"/>
          </a:xfrm>
          <a:prstGeom prst="rect">
            <a:avLst/>
          </a:prstGeom>
          <a:noFill/>
          <a:ln/>
        </p:spPr>
        <p:txBody>
          <a:bodyPr wrap="square" lIns="0" tIns="0" rIns="0" bIns="0" rtlCol="0" anchor="ctr"/>
          <a:lstStyle/>
          <a:p>
            <a:pPr indent="0" marL="0">
              <a:buNone/>
            </a:pPr>
            <a:r>
              <a:rPr lang="en-US" sz="1300" dirty="0">
                <a:solidFill>
                  <a:srgbClr val="02C39A"/>
                </a:solidFill>
                <a:latin typeface="Calibri" pitchFamily="34" charset="0"/>
                <a:ea typeface="Calibri" pitchFamily="34" charset="-122"/>
                <a:cs typeface="Calibri" pitchFamily="34" charset="-120"/>
              </a:rPr>
              <a:t>github.com/[your-team]/skillswap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2026-09-18T23:30:37Z</dcterms:created>
  <dcterms:modified xsi:type="dcterms:W3CDTF">2026-09-18T23:30:37Z</dcterms:modified>
</cp:coreProperties>
</file>